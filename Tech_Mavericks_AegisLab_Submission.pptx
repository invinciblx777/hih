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10287000" cx="18288000"/>
  <p:notesSz cx="6858000" cy="9144000"/>
  <p:embeddedFontLst>
    <p:embeddedFont>
      <p:font typeface="IBM Plex Sans"/>
      <p:bold r:id="rId14"/>
      <p:boldItalic r:id="rId15"/>
    </p:embeddedFont>
    <p:embeddedFont>
      <p:font typeface="Caveat"/>
      <p:regular r:id="rId16"/>
      <p:bold r:id="rId17"/>
    </p:embeddedFont>
    <p:embeddedFont>
      <p:font typeface="Montserrat"/>
      <p:bold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font" Target="fonts/IBMPlexSans-bold.fntdata"/><Relationship Id="rId15" Type="http://schemas.openxmlformats.org/officeDocument/2006/relationships/font" Target="fonts/IBMPlexSans-boldItalic.fntdata"/><Relationship Id="rId16" Type="http://schemas.openxmlformats.org/officeDocument/2006/relationships/font" Target="fonts/Caveat-regular.fntdata"/><Relationship Id="rId17" Type="http://schemas.openxmlformats.org/officeDocument/2006/relationships/font" Target="fonts/Caveat-bold.fntdata"/><Relationship Id="rId18" Type="http://schemas.openxmlformats.org/officeDocument/2006/relationships/font" Target="fonts/Montserrat-bold.fntdata"/><Relationship Id="rId19" Type="http://schemas.openxmlformats.org/officeDocument/2006/relationships/font" Target="fonts/Montserra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OPENING (about 15 seconds on stage; the video opens with the problem)</a:t>
            </a:r>
          </a:p>
          <a:p>
            <a:r>
              <a:t>We are Tech Mavericks. Our project is AegisLab, built for Track 04: Securing Adversarial AI Safety Testing Infrastructure, set by Bayora.</a:t>
            </a:r>
          </a:p>
          <a:p/>
          <a:p>
            <a:r>
              <a:t>The problem in one sentence: red-team attacks, blue-team defences and the model under test have to run side by side, and none of them may learn the others' protected state. If they do, the evaluation result is no longer a valid safety finding.</a:t>
            </a:r>
          </a:p>
          <a:p/>
          <a:p>
            <a:r>
              <a:t>What AegisLab is: controlled, measurable, adversarial AI testing infrastructure. Controlled: sandboxes with no network and one brokered path. Measurable: every boundary is tested with recorded attacks, controls and sample sizes. Adversarial: we attacked our own broker and ran a real local model through the same checks.</a:t>
            </a:r>
          </a:p>
          <a:p/>
          <a:p>
            <a:r>
              <a:t>Team (proposed responsibilities, not claims of prior expertise): Abdul Munaf Z, solution architect and integration engineer; Likhith Sai N, sandbox security and infrastructure engineer; Sreeram Rajesh, product interface and evaluation engineer.</a:t>
            </a:r>
          </a:p>
          <a:p/>
          <a:p>
            <a:r>
              <a:t>What is real and what is not: a working local prototype (Python control plane, rootless Podman sandboxes, deterministic stub model, optional real-model adapter, web console, verifier) and recorded experiments. Nothing is deployed publicly and no URL is published. Everything labelled proposed is not built.</a:t>
            </a: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THREAT MODEL (about 45 seconds)</a:t>
            </a:r>
          </a:p>
          <a:p>
            <a:r>
              <a:t>Parties: a red team holding attack payloads, a blue team holding a frozen defence configuration, a model worker with session and cache state, a reviewer who must trust the result, and an observer with a redacted view. One trusted broker sits between them.</a:t>
            </a:r>
          </a:p>
          <a:p/>
          <a:p>
            <a:r>
              <a:t>Forbidden flows (F1 to F5), each one attacked in a recorded test:</a:t>
            </a:r>
          </a:p>
          <a:p>
            <a:r>
              <a:t>F1: red reading the defence rules. The frozen config is mounted only into the defence runner, read-only, and its digest is attested.</a:t>
            </a:r>
          </a:p>
          <a:p>
            <a:r>
              <a:t>F2: anyone reading results before release. Sealed store and a server-side role gate: 403 for observer, red, blue and a reviewer before RELEASED.</a:t>
            </a:r>
          </a:p>
          <a:p>
            <a:r>
              <a:t>F3: one session reading another's data. One stateless user message per request, no session identifier, a fresh worker per run for the stub, cache_prompt false for the real model, and the broker withholds another run's canary from model output.</a:t>
            </a:r>
          </a:p>
          <a:p>
            <a:r>
              <a:t>F4: a tenant reaching the broker's files or the signing key. Mailbox I/O is descriptor-relative with no-follow; in/ and out/ are separate mounts a tenant cannot rename.</a:t>
            </a:r>
          </a:p>
          <a:p>
            <a:r>
              <a:t>F5: a record changed unnoticed. Hash chain, signed terminal checkpoint, copies the reviewer keeps, and a separate strict verifier.</a:t>
            </a:r>
          </a:p>
          <a:p/>
          <a:p>
            <a:r>
              <a:t>Where enforcement happens: container flags (no network, read-only root, all capabilities dropped, no-new-privileges, pids/memory/CPU limits, SELinux labels), the broker, the API role gate, and the verifier.</a:t>
            </a:r>
          </a:p>
          <a:p/>
          <a:p>
            <a:r>
              <a:t>What is trusted and not defended (amber): the broker and its signing key; the host kernel and container runtime.</a:t>
            </a:r>
          </a:p>
          <a:p/>
          <a:p>
            <a:r>
              <a:t>Evidence: role matrix evidence/phase2_2026-10-23/role_matrix_extended.json: 560 attempted, 419 of 419 expected denials denied, 141 of 141 expected successes succeeded, 0 unexpectedly permitted, 0 secret-marker hits. Not covered: operations that launch containers, run-scoped identities (tokens are global per role).</a:t>
            </a:r>
          </a:p>
          <a:p/>
          <a:p>
            <a:r>
              <a:t>Likely question: why not just separate Docker containers? Because you also need a single mediated channel with identity bound to the channel, a frozen config, committed attacks, a model-state check and evidence an outsider can verify.</a:t>
            </a: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SECURITY ARCHITECTURE (about 60 seconds). Walk left to right.</a:t>
            </a:r>
          </a:p>
          <a:p/>
          <a:p>
            <a:r>
              <a:t>Tenants (left): the red sandbox, the blue defence runner and the model worker are separate rootless Podman containers with --network none, a read-only root filesystem, all capabilities dropped, no-new-privileges, pids/memory/CPU limits and a private SELinux label (verified from inside and with podman inspect: evidence/phase2_2026-10-23/effective_container_settings.json). Layer 1.</a:t>
            </a:r>
          </a:p>
          <a:p/>
          <a:p>
            <a:r>
              <a:t>Broker (centre): the only path out of a sandbox is a file mailbox. in/ and out/ are separate mount points, so a tenant can fill them but cannot rename or replace them; the broker opens them through directory descriptors with no-follow and creates reply files with O_EXCL under unpredictable names. Layer 2. Identity comes from which mailbox a message arrived in, never from a field in the message; the API checks roles server-side and the result gate opens only when the run is SEALED, the chain verifies and a reviewer asks. Layer 3.</a:t>
            </a:r>
          </a:p>
          <a:p/>
          <a:p>
            <a:r>
              <a:t>Model worker: in the stub path it is a fresh container per run. In the real-model path there is no AegisLab-managed worker: the model is whatever sits behind a loopback URL, reached only by the broker's adapter, which sends one user message per request, no session or run identifier, cache_prompt false, and withholds another run's canary or a control-plane secret from the output. Layer 4. Honest note: for the real model, state isolation also depends on the inference server honouring cache_prompt (tested for llama.cpp) and on the operator.</a:t>
            </a:r>
          </a:p>
          <a:p/>
          <a:p>
            <a:r>
              <a:t>Audit (centre and right): the broker appends digests (never payloads) to a hash-chained log, signs checkpoints, and writes the checkpoints to a reviewer vault. At release it signs a terminal checkpoint that binds the final entry. A separate verifier program checks chain, checkpoints and terminal state. Layer 5.</a:t>
            </a:r>
          </a:p>
          <a:p/>
          <a:p>
            <a:r>
              <a:t>Residual trust (amber): the broker and its signing key, and the shared host kernel and container runtime. A compromised broker signs false but internally consistent records (test P2A20). A signing-key holder who replaces every retained copy defeats the scheme unless the reviewer recorded the terminal hash independently (test P2A11, --expect-terminal-hash). Tenant processes run as the same host user as the control plane in this prototype; separation rests on the sandbox, not on Unix users.</a:t>
            </a:r>
          </a:p>
          <a:p/>
          <a:p>
            <a:r>
              <a:t>Stack: Python control plane (FastAPI), rootless Podman with crun, Ed25519 and SHA-256, vanilla JS console, JSON files. Local API on loopback only; no TLS, rate limit or request-body limit.</a:t>
            </a: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ADVERSARIAL DEMONSTRATION (about 60 seconds; live demo: scripts/judge_demo.sh, step 3)</a:t>
            </a:r>
          </a:p>
          <a:p>
            <a:r>
              <a:t>Threat: code inside a tenant sandbox attacks the broker's own mailbox. The broker has to write replies into a directory the tenant can write to.</a:t>
            </a:r>
          </a:p>
          <a:p/>
          <a:p>
            <a:r>
              <a:t>What we found in our own Phase 2 attack: on the Phase 1 broker, a symlink planted at the broker's predictable temporary name made the broker write its reply through the link and overwrite the run's audit log (shown from a real hardened container). Replacing the mailbox directory with a symlink redirected every later write. A FIFO at the temporary name blocked the broker forever. These were real defects, five of thirteen Phase 2 findings were HIGH.</a:t>
            </a:r>
          </a:p>
          <a:p/>
          <a:p>
            <a:r>
              <a:t>Fix (code in aegis/runs.py): in/ and out/ are separate mount points the tenant cannot rename or remove; the broker opens the mailbox through a directory descriptor with no-follow, creates the reply with O_CREAT|O_EXCL|O_NOFOLLOW|O_NONBLOCK under an unpredictable name, and renames it into place, replacing whatever the tenant left at the final name.</a:t>
            </a:r>
          </a:p>
          <a:p/>
          <a:p>
            <a:r>
              <a:t>What the recording shows (genuine output, current code, stub model): inside the sandbox the symlink and the FIFO are created successfully (the tenant can write its own mailbox) while renaming or removing the mailbox directory is refused (errno 30, the root filesystem is read-only). The broker then writes two replies: both arrive as regular files, the victim file outside the mailbox is intact, nothing is created outside, and the writes finish in about a millisecond instead of blocking.</a:t>
            </a:r>
          </a:p>
          <a:p/>
          <a:p>
            <a:r>
              <a:t>The amber box is HISTORICAL: it quotes the recorded result from the Phase 1 broker, not a re-run. We cannot re-run the old code from the current tree.</a:t>
            </a:r>
          </a:p>
          <a:p/>
          <a:p>
            <a:r>
              <a:t>Regression tests (all in the suite): P2B01, P2B02, P2B05, P2B06 (symlink, hard link, directory replacement), P2B03 and P2B32 (FIFO), P2C01 and P2C02 (from inside a real container). They were run against the unmodified Phase 1 code first and failed there.</a:t>
            </a:r>
          </a:p>
          <a:p/>
          <a:p>
            <a:r>
              <a:t>Also on this slide: 282 of 282 replayed model-generated gate messages were denied (experiment E4): text produced by the real model was replayed to the mailbox and API as if a malicious red agent forwarded it; none changed run state.</a:t>
            </a:r>
          </a:p>
          <a:p/>
          <a:p>
            <a:r>
              <a:t>Limits: devices (character/block special files) cannot be created unprivileged and were not tested; the HTTP layer was tested only on loopback; a compromised broker or kernel escape is out of scope.</a:t>
            </a:r>
          </a:p>
        </p:txBody>
      </p:sp>
      <p:sp>
        <p:nvSpPr>
          <p:cNvPr id="110" name="Google Shape;1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REAL-MODEL EVIDENCE (about 60 seconds). This slide shows precomputed results from the saved Phase 3 runs, not a live inference.</a:t>
            </a:r>
          </a:p>
          <a:p/>
          <a:p>
            <a:r>
              <a:t>Setup: Qwen2.5-0.5B-Instruct Q4_K_M on a CPU-only llama.cpp server (build 11819) bound to 127.0.0.1 with a random port and key, temperature 0, 48 max tokens. The deterministic stub is the default everywhere else.</a:t>
            </a:r>
          </a:p>
          <a:p/>
          <a:p>
            <a:r>
              <a:t>Panel A (experiment E1, run P3-20261023T084629Z-E1_canary_matrix): a session plants a random canary, then ten probe wordings try to recover it from a context that does not share it. Seven isolation cells (reused server cache off, reused server cache on, three orderings including concurrent; fresh server per session): 0 of 104 sessions, 0 of 1,040 trials. Negative control (nothing planted): 0 of 32 sessions, 0 of 320 trials. Positive controls: history shared on purpose leaked in 16 of 16 sessions; a gateway that hands other sessions' messages to the model leaked in 13 of 16. This is how we know a zero means something: the same probes, detector and model do recover a canary when context is shared.</a:t>
            </a:r>
          </a:p>
          <a:p/>
          <a:p>
            <a:r>
              <a:t>Panel B (experiment E2): the whole pipeline with the real model. 0 of 26 isolation runs (312 attacks) had a foreign canary in raw model output, and 0 reached red. Negative control: 0 of 4 runs. Gateway control: 2 of 4 runs had a foreign canary in model output; the broker withheld 15 attacks and 0 reached red.</a:t>
            </a:r>
          </a:p>
          <a:p/>
          <a:p>
            <a:r>
              <a:t>How do you know it is isolation and not refusal? The detector looks for the planted token, its digits and fragments in the output; the controls show the probes do elicit it when context is shared; and the negative control shows the detector does not fire on coincidence.</a:t>
            </a:r>
          </a:p>
          <a:p/>
          <a:p>
            <a:r>
              <a:t>What the numbers do not say: zero observed leaks in a finite experiment do not prove zero risk. Upper bounds: 2.84% of sessions, 0.29% of trials (the per-trial figure treats trials as independent, so it is the weaker bar). Only one 0.5B model and ten probe wordings were tested. Three probes (Q01, Q08, Q10) stayed silent even in the shared-context control, so their zeros carry no weight. A model that follows instructions better may reproduce content this one does not. The canary detector does not recognise every re-encoding, for example base64. GPU memory, accelerator KV cache and hardware side channels were not tested.</a:t>
            </a:r>
          </a:p>
          <a:p/>
          <a:p>
            <a:r>
              <a:t>Injection (E4): 72 attacks (69 reached the model); 0 protected values in red-visible output or monitoring. The model had no hidden context to reveal, so this is an information-flow result, not evidence about the model's robustness. Failure handling (E5): 9 of 9 checks, including a real SIGKILL of the server mid-request.</a:t>
            </a: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AUDIT INTEGRITY AND REPRODUCIBILITY (about 45 seconds; live: scripts/judge_demo.sh, steps 4 and 5)</a:t>
            </a:r>
          </a:p>
          <a:p>
            <a:r>
              <a:t>Left, green: a completed run, JD-1, is RELEASED. The broker's terminal checkpoint is signed and binds the final audit entry. The reviewer verifies the exported bundle with the strict verifier, pinning the broker's public key and the terminal hash noted at release. Result: ok true, terminal_verified true, exit 0. These panels are the genuine output of the recorded demo run.</a:t>
            </a:r>
          </a:p>
          <a:p/>
          <a:p>
            <a:r>
              <a:t>Right, red: the same bundle with the last three audit entries removed from a COPY (the original is untouched). The verifier reports truncation, because a signed checkpoint covers entries that no longer exist, and exits 1.</a:t>
            </a:r>
          </a:p>
          <a:p/>
          <a:p>
            <a:r>
              <a:t>Distinguish in-progress from complete: while a run is still being written, the log can be checked with --allow-in-progress, which reports terminal_verified false and a warning; it is never counted as a pass of strict verification. The old shipped DEMO-001 (before terminal checkpoints existed) is rejected by strict verification by design; the closeout DEMO-001_released bundle passes.</a:t>
            </a:r>
          </a:p>
          <a:p/>
          <a:p>
            <a:r>
              <a:t>Earlier recorded verification results (from the validated test suite, evidence/validation_2026-10-22): 19 tamper categories across 30 runs were all detected; truncation was 0 of 30 before the terminal checkpoint and is now caught.</a:t>
            </a:r>
          </a:p>
          <a:p/>
          <a:p>
            <a:r>
              <a:t>Reproducibility: quickstart.sh runs eight stages from a clean copy, including the full test suite. judge_demo.sh is the short offline path. security_demo.sh is the longer original demo. check_claims.py and check_presentation.py recompute the figures in the deck from raw files.</a:t>
            </a:r>
          </a:p>
          <a:p/>
          <a:p>
            <a:r>
              <a:t>Limits (state them): a compromised trusted broker can sign false but internally consistent records (test P2A20). A holder of the signing key who replaces every retained copy produces a history that verifies, unless the reviewer has an independent terminal commitment, for example the terminal hash noted at release (test P2A11). The verifier is also trusted code.</a:t>
            </a:r>
          </a:p>
        </p:txBody>
      </p:sp>
      <p:sp>
        <p:nvSpPr>
          <p:cNvPr id="128" name="Google Shape;1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PERFORMANCE, LIMITS AND DEPLOYMENT (about 45 seconds)</a:t>
            </a:r>
          </a:p>
          <a:p>
            <a:r>
              <a:t>Measured cost, one host (AMD Ryzen 7 7735HS, Fedora, rootless Podman 5.8.9):</a:t>
            </a:r>
          </a:p>
          <a:p>
            <a:r>
              <a:t>- Broker mailbox hop: median 2.59–2.84 ms on an idle host with the stub model (three executions, n=1000 each).</a:t>
            </a:r>
          </a:p>
          <a:p>
            <a:r>
              <a:t>- Timing mitigation: a simple classifier separating refused from answered responses reaches held-out accuracy 0.795–0.800 without padding; with 250 ms buckets it is 0.495–0.555, not distinguishable from chance in these runs, at +198 to +201 ms per answered request. This lowers one classifier's accuracy. It does not establish that the timing channel is removed: one weak classifier, a constant-latency stub, three executions.</a:t>
            </a:r>
          </a:p>
          <a:p>
            <a:r>
              <a:t>- Real-model path: Qwen2.5-0.5B on CPU through llama.cpp on loopback. Median client latency about 349 ms per request with the prompt cache off.</a:t>
            </a:r>
          </a:p>
          <a:p>
            <a:r>
              <a:t>- Inference state (experiment E3): with cache_prompt true the server reuses an earlier prompt's cached tokens; a second session can confirm a guess about earlier prompt content (cached tokens 119 vs 99, AUC 1.00, latency AUC 1.00). AegisLab sends cache_prompt false: 0 of 120 trials showed cached tokens and 0 of 14 after a process restart. This is a CPU prompt cache only. GPU memory, accelerator KV cache and hardware side channels were not tested. An operator can still re-open the oracle with AEGIS_MODEL_EXTRA_JSON; a guard is a recommended next step.</a:t>
            </a:r>
          </a:p>
          <a:p/>
          <a:p>
            <a:r>
              <a:t>Residual risks: (1) trusted broker and signing key: compromise means false but consistent records; key theft plus replacing every retained copy defeats the scheme without an independent terminal hash. (2) Shared host kernel, container runtime, hardware. (3) One 0.5B model, ten probe wordings, three silent probes. (4) The canary detector protects canaries and registered secrets and does not recognise re-encodings such as base64 (test P3B02d, marked LIMIT). (5) Tokens are global per role; the API has no TLS, rate limit or body limit; run on loopback. (6) The release gate does not refuse a run sealed as incomplete after model errors; the report says so.</a:t>
            </a:r>
          </a:p>
          <a:p/>
          <a:p>
            <a:r>
              <a:t>Deployment: today one host with rootless Podman. Proposed, not built: signer in its own process or KMS, run-scoped identities, vault on separate storage, microVM per tenant, GPU model server behind its own boundary with no shared prefix cache.</a:t>
            </a:r>
          </a:p>
        </p:txBody>
      </p:sp>
      <p:sp>
        <p:nvSpPr>
          <p:cNvPr id="137" name="Google Shape;1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CONCLUSION (about 30 seconds)</a:t>
            </a:r>
          </a:p>
          <a:p>
            <a:r>
              <a:t>Three evidence-backed contributions:</a:t>
            </a:r>
          </a:p>
          <a:p>
            <a:r>
              <a:t>1. Enforced information-flow boundaries. Sandboxes with no network, one trusted broker, role gating, no-follow mailbox I/O. Evidence: role matrix (560 attempted, 419 of 419 expected denials denied, 0 unexpectedly permitted), and the hostile-mailbox attack blocked in a real container (regression tests P2B01, P2B03, P2B05, P2C01, P2C02).</a:t>
            </a:r>
          </a:p>
          <a:p>
            <a:r>
              <a:t>2. Reproducible adversarial validation with real-model experiments. A real local model, through the adapter and the full pipeline: 0 of 104 sessions leaked, with controls that leak (16 of 16 and 13 of 16). Scope: one 0.5B model, ten probe wordings, CPU, loopback. quickstart.sh and judge_demo.sh reproduce the checks offline.</a:t>
            </a:r>
          </a:p>
          <a:p>
            <a:r>
              <a:t>3. Cryptographically verifiable evaluation evidence with explicit residual-risk disclosure. Signed terminal checkpoint; a copy with three entries removed is rejected. We also state what is trusted: the broker and its key, the host kernel, the detector's blind spots, and GPU and hardware isolation we did not test.</a:t>
            </a:r>
          </a:p>
          <a:p/>
          <a:p>
            <a:r>
              <a:t>Why it matters for AI safety evaluation: a finding that a defence held, or that a model leaked, is only worth what the test environment is worth. If attacks, defences and model state can cross, the number means nothing. AegisLab makes those boundaries enforceable, checkable by a third party, and honest about where they stop.</a:t>
            </a:r>
          </a:p>
          <a:p/>
          <a:p>
            <a:r>
              <a:t>We do not claim: invulnerability, GPU or physical KV-cache isolation, protection against a compromised broker, model robustness to prompt injection, or any deployment, customer, partner or certification.</a:t>
            </a:r>
          </a:p>
        </p:txBody>
      </p:sp>
      <p:sp>
        <p:nvSpPr>
          <p:cNvPr id="146" name="Google Shape;1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7" name="Google Shape;87;p13" title="download (2).jpg"/>
          <p:cNvPicPr preferRelativeResize="0"/>
          <p:nvPr/>
        </p:nvPicPr>
        <p:blipFill rotWithShape="1">
          <a:blip r:embed="rId3">
            <a:alphaModFix/>
          </a:blip>
          <a:srcRect b="0" l="38928" r="16455" t="0"/>
          <a:stretch/>
        </p:blipFill>
        <p:spPr>
          <a:xfrm rot="-5400000">
            <a:off x="7123100" y="-7111200"/>
            <a:ext cx="4088375" cy="18326624"/>
          </a:xfrm>
          <a:prstGeom prst="rect">
            <a:avLst/>
          </a:prstGeom>
          <a:noFill/>
          <a:ln>
            <a:noFill/>
          </a:ln>
        </p:spPr>
      </p:pic>
      <p:pic>
        <p:nvPicPr>
          <p:cNvPr id="88" name="Google Shape;88;p13"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89" name="Google Shape;89;p13"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
        <p:nvSpPr>
          <p:cNvPr id="90" name="TextBox 89"/>
          <p:cNvSpPr txBox="1"/>
          <p:nvPr/>
        </p:nvSpPr>
        <p:spPr>
          <a:xfrm>
            <a:off x="640080" y="4343400"/>
            <a:ext cx="8595360" cy="411480"/>
          </a:xfrm>
          <a:prstGeom prst="rect">
            <a:avLst/>
          </a:prstGeom>
          <a:noFill/>
        </p:spPr>
        <p:txBody>
          <a:bodyPr wrap="square" lIns="0" rIns="0" tIns="0" bIns="0" anchor="t">
            <a:spAutoFit/>
          </a:bodyPr>
          <a:lstStyle/>
          <a:p>
            <a:pPr algn="l"/>
            <a:r>
              <a:rPr sz="2200" b="1" i="0">
                <a:solidFill>
                  <a:srgbClr val="E8772E"/>
                </a:solidFill>
                <a:latin typeface="Montserrat"/>
                <a:ea typeface="Montserrat"/>
                <a:cs typeface="Montserrat"/>
              </a:rPr>
              <a:t>TEAM</a:t>
            </a:r>
          </a:p>
        </p:txBody>
      </p:sp>
      <p:sp>
        <p:nvSpPr>
          <p:cNvPr id="91" name="TextBox 90"/>
          <p:cNvSpPr txBox="1"/>
          <p:nvPr/>
        </p:nvSpPr>
        <p:spPr>
          <a:xfrm>
            <a:off x="640080" y="4754880"/>
            <a:ext cx="8595360" cy="914400"/>
          </a:xfrm>
          <a:prstGeom prst="rect">
            <a:avLst/>
          </a:prstGeom>
          <a:noFill/>
        </p:spPr>
        <p:txBody>
          <a:bodyPr wrap="square" lIns="0" rIns="0" tIns="0" bIns="0" anchor="t">
            <a:spAutoFit/>
          </a:bodyPr>
          <a:lstStyle/>
          <a:p>
            <a:pPr algn="l"/>
            <a:r>
              <a:rPr sz="5400" b="1" i="0">
                <a:solidFill>
                  <a:srgbClr val="13233A"/>
                </a:solidFill>
                <a:latin typeface="Montserrat"/>
                <a:ea typeface="Montserrat"/>
                <a:cs typeface="Montserrat"/>
              </a:rPr>
              <a:t>Tech Mavericks</a:t>
            </a:r>
          </a:p>
        </p:txBody>
      </p:sp>
      <p:sp>
        <p:nvSpPr>
          <p:cNvPr id="92" name="TextBox 91"/>
          <p:cNvSpPr txBox="1"/>
          <p:nvPr/>
        </p:nvSpPr>
        <p:spPr>
          <a:xfrm>
            <a:off x="640080" y="5760720"/>
            <a:ext cx="8778240" cy="548640"/>
          </a:xfrm>
          <a:prstGeom prst="rect">
            <a:avLst/>
          </a:prstGeom>
          <a:noFill/>
        </p:spPr>
        <p:txBody>
          <a:bodyPr wrap="square" lIns="0" rIns="0" tIns="0" bIns="0" anchor="t">
            <a:spAutoFit/>
          </a:bodyPr>
          <a:lstStyle/>
          <a:p>
            <a:pPr algn="l"/>
            <a:r>
              <a:rPr sz="3000" b="1" i="0">
                <a:solidFill>
                  <a:srgbClr val="E8772E"/>
                </a:solidFill>
                <a:latin typeface="Montserrat"/>
                <a:ea typeface="Montserrat"/>
                <a:cs typeface="Montserrat"/>
              </a:rPr>
              <a:t>AegisLab</a:t>
            </a:r>
          </a:p>
        </p:txBody>
      </p:sp>
      <p:sp>
        <p:nvSpPr>
          <p:cNvPr id="93" name="TextBox 92"/>
          <p:cNvSpPr txBox="1"/>
          <p:nvPr/>
        </p:nvSpPr>
        <p:spPr>
          <a:xfrm>
            <a:off x="640080" y="6309360"/>
            <a:ext cx="8778240" cy="457200"/>
          </a:xfrm>
          <a:prstGeom prst="rect">
            <a:avLst/>
          </a:prstGeom>
          <a:noFill/>
        </p:spPr>
        <p:txBody>
          <a:bodyPr wrap="square" lIns="0" rIns="0" tIns="0" bIns="0" anchor="t">
            <a:spAutoFit/>
          </a:bodyPr>
          <a:lstStyle/>
          <a:p>
            <a:pPr algn="l"/>
            <a:r>
              <a:rPr sz="2300" b="1" i="0">
                <a:solidFill>
                  <a:srgbClr val="1D1D1F"/>
                </a:solidFill>
                <a:latin typeface="IBM Plex Sans"/>
                <a:ea typeface="IBM Plex Sans"/>
                <a:cs typeface="IBM Plex Sans"/>
              </a:rPr>
              <a:t>Controlled, measurable, adversarial AI testing infrastructure</a:t>
            </a:r>
          </a:p>
        </p:txBody>
      </p:sp>
      <p:sp>
        <p:nvSpPr>
          <p:cNvPr id="94" name="TextBox 93"/>
          <p:cNvSpPr txBox="1"/>
          <p:nvPr/>
        </p:nvSpPr>
        <p:spPr>
          <a:xfrm>
            <a:off x="640080" y="6903720"/>
            <a:ext cx="8321040" cy="1600200"/>
          </a:xfrm>
          <a:prstGeom prst="rect">
            <a:avLst/>
          </a:prstGeom>
          <a:noFill/>
        </p:spPr>
        <p:txBody>
          <a:bodyPr wrap="square" lIns="0" rIns="0" tIns="0" bIns="0" anchor="t">
            <a:spAutoFit/>
          </a:bodyPr>
          <a:lstStyle/>
          <a:p>
            <a:pPr algn="l"/>
            <a:r>
              <a:rPr sz="2000" b="1" i="0">
                <a:solidFill>
                  <a:srgbClr val="13233A"/>
                </a:solidFill>
                <a:latin typeface="IBM Plex Sans"/>
                <a:ea typeface="IBM Plex Sans"/>
                <a:cs typeface="IBM Plex Sans"/>
              </a:rPr>
              <a:t>The challenge: </a:t>
            </a:r>
            <a:r>
              <a:rPr sz="2000" b="0" i="0">
                <a:solidFill>
                  <a:srgbClr val="5B6B7F"/>
                </a:solidFill>
                <a:latin typeface="IBM Plex Sans"/>
                <a:ea typeface="IBM Plex Sans"/>
                <a:cs typeface="IBM Plex Sans"/>
              </a:rPr>
              <a:t>red-team attacks, blue-team defences and the model under test must coexist without leaking protected state, or the evaluation itself becomes invalid. AegisLab keeps them apart, measures what crosses, and hands the reviewer evidence that can be checked.</a:t>
            </a:r>
          </a:p>
        </p:txBody>
      </p:sp>
      <p:sp>
        <p:nvSpPr>
          <p:cNvPr id="95" name="TextBox 94"/>
          <p:cNvSpPr txBox="1"/>
          <p:nvPr/>
        </p:nvSpPr>
        <p:spPr>
          <a:xfrm>
            <a:off x="640080" y="8732520"/>
            <a:ext cx="8595360" cy="914400"/>
          </a:xfrm>
          <a:prstGeom prst="rect">
            <a:avLst/>
          </a:prstGeom>
          <a:noFill/>
        </p:spPr>
        <p:txBody>
          <a:bodyPr wrap="square" lIns="0" rIns="0" tIns="0" bIns="0" anchor="t">
            <a:spAutoFit/>
          </a:bodyPr>
          <a:lstStyle/>
          <a:p>
            <a:pPr algn="l"/>
            <a:r>
              <a:rPr sz="1800" b="1" i="0">
                <a:solidFill>
                  <a:srgbClr val="1D1D1F"/>
                </a:solidFill>
                <a:latin typeface="IBM Plex Sans"/>
                <a:ea typeface="IBM Plex Sans"/>
                <a:cs typeface="IBM Plex Sans"/>
              </a:rPr>
              <a:t>Hack in Hills ’26 · Track 04</a:t>
            </a:r>
          </a:p>
          <a:p>
            <a:pPr algn="l"/>
            <a:r>
              <a:rPr sz="1800" b="0" i="0">
                <a:solidFill>
                  <a:srgbClr val="5B6B7F"/>
                </a:solidFill>
                <a:latin typeface="IBM Plex Sans"/>
                <a:ea typeface="IBM Plex Sans"/>
                <a:cs typeface="IBM Plex Sans"/>
              </a:rPr>
              <a:t>Securing Adversarial AI Safety Testing Infrastructure (Bayora)</a:t>
            </a:r>
          </a:p>
        </p:txBody>
      </p:sp>
      <p:sp>
        <p:nvSpPr>
          <p:cNvPr id="96" name="Member Abdul Munaf Z"/>
          <p:cNvSpPr/>
          <p:nvPr/>
        </p:nvSpPr>
        <p:spPr>
          <a:xfrm>
            <a:off x="9692640" y="4434840"/>
            <a:ext cx="7955279" cy="1572768"/>
          </a:xfrm>
          <a:prstGeom prst="roundRect">
            <a:avLst>
              <a:gd name="adj" fmla="val 10000"/>
            </a:avLst>
          </a:prstGeom>
          <a:solidFill>
            <a:srgbClr val="FFFFFF"/>
          </a:solidFill>
          <a:ln w="15875">
            <a:solidFill>
              <a:srgbClr val="C9D2DE"/>
            </a:solidFill>
          </a:ln>
          <a:effectLst/>
        </p:spPr>
        <p:txBody>
          <a:bodyPr rtlCol="0" anchor="t" wrap="square" lIns="0" rIns="0" tIns="0" bIns="0"/>
          <a:lstStyle/>
          <a:p>
            <a:pPr algn="l"/>
            <a:r>
              <a:rPr sz="2000" b="0" i="0">
                <a:solidFill>
                  <a:srgbClr val="1D1D1F"/>
                </a:solidFill>
                <a:latin typeface="IBM Plex Sans"/>
                <a:ea typeface="IBM Plex Sans"/>
                <a:cs typeface="IBM Plex Sans"/>
              </a:rPr>
              <a:t/>
            </a:r>
          </a:p>
        </p:txBody>
      </p:sp>
      <p:sp>
        <p:nvSpPr>
          <p:cNvPr id="97" name="Oval 96"/>
          <p:cNvSpPr/>
          <p:nvPr/>
        </p:nvSpPr>
        <p:spPr>
          <a:xfrm>
            <a:off x="9966960" y="4828031"/>
            <a:ext cx="786384" cy="786384"/>
          </a:xfrm>
          <a:prstGeom prst="ellipse">
            <a:avLst/>
          </a:prstGeom>
          <a:solidFill>
            <a:srgbClr val="E8772E"/>
          </a:solidFill>
          <a:ln>
            <a:noFill/>
          </a:ln>
          <a:effectLst/>
        </p:spPr>
        <p:txBody>
          <a:bodyPr rtlCol="0" anchor="ctr" wrap="square" lIns="0" rIns="0" tIns="0" bIns="0"/>
          <a:lstStyle/>
          <a:p>
            <a:pPr algn="ctr"/>
            <a:r>
              <a:rPr sz="2000" b="1" i="0">
                <a:solidFill>
                  <a:srgbClr val="FFFFFF"/>
                </a:solidFill>
                <a:latin typeface="Montserrat"/>
                <a:ea typeface="Montserrat"/>
                <a:cs typeface="Montserrat"/>
              </a:rPr>
              <a:t>AM</a:t>
            </a:r>
          </a:p>
        </p:txBody>
      </p:sp>
      <p:sp>
        <p:nvSpPr>
          <p:cNvPr id="98" name="TextBox 97"/>
          <p:cNvSpPr txBox="1"/>
          <p:nvPr/>
        </p:nvSpPr>
        <p:spPr>
          <a:xfrm>
            <a:off x="11018520" y="4617720"/>
            <a:ext cx="6492240" cy="1280160"/>
          </a:xfrm>
          <a:prstGeom prst="rect">
            <a:avLst/>
          </a:prstGeom>
          <a:noFill/>
        </p:spPr>
        <p:txBody>
          <a:bodyPr wrap="square" lIns="0" rIns="0" tIns="0" bIns="0" anchor="t">
            <a:spAutoFit/>
          </a:bodyPr>
          <a:lstStyle/>
          <a:p>
            <a:pPr algn="l"/>
            <a:r>
              <a:rPr sz="2400" b="1" i="0">
                <a:solidFill>
                  <a:srgbClr val="1D1D1F"/>
                </a:solidFill>
                <a:latin typeface="Montserrat"/>
                <a:ea typeface="Montserrat"/>
                <a:cs typeface="Montserrat"/>
              </a:rPr>
              <a:t>Abdul Munaf Z</a:t>
            </a:r>
          </a:p>
          <a:p>
            <a:pPr algn="l"/>
            <a:r>
              <a:rPr sz="1700" b="1" i="0">
                <a:solidFill>
                  <a:srgbClr val="E8772E"/>
                </a:solidFill>
                <a:latin typeface="IBM Plex Sans"/>
                <a:ea typeface="IBM Plex Sans"/>
                <a:cs typeface="IBM Plex Sans"/>
              </a:rPr>
              <a:t>Solution architect &amp; integration engineer</a:t>
            </a:r>
          </a:p>
          <a:p>
            <a:pPr algn="l"/>
            <a:r>
              <a:rPr sz="1600" b="0" i="0">
                <a:solidFill>
                  <a:srgbClr val="5B6B7F"/>
                </a:solidFill>
                <a:latin typeface="IBM Plex Sans"/>
                <a:ea typeface="IBM Plex Sans"/>
                <a:cs typeface="IBM Plex Sans"/>
              </a:rPr>
              <a:t>Threat model, trusted broker, API integration, overall demonstration</a:t>
            </a:r>
          </a:p>
        </p:txBody>
      </p:sp>
      <p:sp>
        <p:nvSpPr>
          <p:cNvPr id="99" name="Member Likhith Sai N"/>
          <p:cNvSpPr/>
          <p:nvPr/>
        </p:nvSpPr>
        <p:spPr>
          <a:xfrm>
            <a:off x="9692640" y="6172200"/>
            <a:ext cx="7955279" cy="1572768"/>
          </a:xfrm>
          <a:prstGeom prst="roundRect">
            <a:avLst>
              <a:gd name="adj" fmla="val 10000"/>
            </a:avLst>
          </a:prstGeom>
          <a:solidFill>
            <a:srgbClr val="FFFFFF"/>
          </a:solidFill>
          <a:ln w="15875">
            <a:solidFill>
              <a:srgbClr val="C9D2DE"/>
            </a:solidFill>
          </a:ln>
          <a:effectLst/>
        </p:spPr>
        <p:txBody>
          <a:bodyPr rtlCol="0" anchor="t" wrap="square" lIns="0" rIns="0" tIns="0" bIns="0"/>
          <a:lstStyle/>
          <a:p>
            <a:pPr algn="l"/>
            <a:r>
              <a:rPr sz="2000" b="0" i="0">
                <a:solidFill>
                  <a:srgbClr val="1D1D1F"/>
                </a:solidFill>
                <a:latin typeface="IBM Plex Sans"/>
                <a:ea typeface="IBM Plex Sans"/>
                <a:cs typeface="IBM Plex Sans"/>
              </a:rPr>
              <a:t/>
            </a:r>
          </a:p>
        </p:txBody>
      </p:sp>
      <p:sp>
        <p:nvSpPr>
          <p:cNvPr id="100" name="Oval 99"/>
          <p:cNvSpPr/>
          <p:nvPr/>
        </p:nvSpPr>
        <p:spPr>
          <a:xfrm>
            <a:off x="9966960" y="6565392"/>
            <a:ext cx="786384" cy="786384"/>
          </a:xfrm>
          <a:prstGeom prst="ellipse">
            <a:avLst/>
          </a:prstGeom>
          <a:solidFill>
            <a:srgbClr val="2F6DB5"/>
          </a:solidFill>
          <a:ln>
            <a:noFill/>
          </a:ln>
          <a:effectLst/>
        </p:spPr>
        <p:txBody>
          <a:bodyPr rtlCol="0" anchor="ctr" wrap="square" lIns="0" rIns="0" tIns="0" bIns="0"/>
          <a:lstStyle/>
          <a:p>
            <a:pPr algn="ctr"/>
            <a:r>
              <a:rPr sz="2000" b="1" i="0">
                <a:solidFill>
                  <a:srgbClr val="FFFFFF"/>
                </a:solidFill>
                <a:latin typeface="Montserrat"/>
                <a:ea typeface="Montserrat"/>
                <a:cs typeface="Montserrat"/>
              </a:rPr>
              <a:t>LS</a:t>
            </a:r>
          </a:p>
        </p:txBody>
      </p:sp>
      <p:sp>
        <p:nvSpPr>
          <p:cNvPr id="101" name="TextBox 100"/>
          <p:cNvSpPr txBox="1"/>
          <p:nvPr/>
        </p:nvSpPr>
        <p:spPr>
          <a:xfrm>
            <a:off x="11018520" y="6355080"/>
            <a:ext cx="6492240" cy="1280160"/>
          </a:xfrm>
          <a:prstGeom prst="rect">
            <a:avLst/>
          </a:prstGeom>
          <a:noFill/>
        </p:spPr>
        <p:txBody>
          <a:bodyPr wrap="square" lIns="0" rIns="0" tIns="0" bIns="0" anchor="t">
            <a:spAutoFit/>
          </a:bodyPr>
          <a:lstStyle/>
          <a:p>
            <a:pPr algn="l"/>
            <a:r>
              <a:rPr sz="2400" b="1" i="0">
                <a:solidFill>
                  <a:srgbClr val="1D1D1F"/>
                </a:solidFill>
                <a:latin typeface="Montserrat"/>
                <a:ea typeface="Montserrat"/>
                <a:cs typeface="Montserrat"/>
              </a:rPr>
              <a:t>Likhith Sai N</a:t>
            </a:r>
          </a:p>
          <a:p>
            <a:pPr algn="l"/>
            <a:r>
              <a:rPr sz="1700" b="1" i="0">
                <a:solidFill>
                  <a:srgbClr val="2F6DB5"/>
                </a:solidFill>
                <a:latin typeface="IBM Plex Sans"/>
                <a:ea typeface="IBM Plex Sans"/>
                <a:cs typeface="IBM Plex Sans"/>
              </a:rPr>
              <a:t>Sandbox security &amp; infrastructure engineer</a:t>
            </a:r>
          </a:p>
          <a:p>
            <a:pPr algn="l"/>
            <a:r>
              <a:rPr sz="1600" b="0" i="0">
                <a:solidFill>
                  <a:srgbClr val="5B6B7F"/>
                </a:solidFill>
                <a:latin typeface="IBM Plex Sans"/>
                <a:ea typeface="IBM Plex Sans"/>
                <a:cs typeface="IBM Plex Sans"/>
              </a:rPr>
              <a:t>Workload isolation, network policies, identities, resource controls, deployment</a:t>
            </a:r>
          </a:p>
        </p:txBody>
      </p:sp>
      <p:sp>
        <p:nvSpPr>
          <p:cNvPr id="102" name="Member Sreeram Rajesh"/>
          <p:cNvSpPr/>
          <p:nvPr/>
        </p:nvSpPr>
        <p:spPr>
          <a:xfrm>
            <a:off x="9692640" y="7909560"/>
            <a:ext cx="7955279" cy="1572768"/>
          </a:xfrm>
          <a:prstGeom prst="roundRect">
            <a:avLst>
              <a:gd name="adj" fmla="val 10000"/>
            </a:avLst>
          </a:prstGeom>
          <a:solidFill>
            <a:srgbClr val="FFFFFF"/>
          </a:solidFill>
          <a:ln w="15875">
            <a:solidFill>
              <a:srgbClr val="C9D2DE"/>
            </a:solidFill>
          </a:ln>
          <a:effectLst/>
        </p:spPr>
        <p:txBody>
          <a:bodyPr rtlCol="0" anchor="t" wrap="square" lIns="0" rIns="0" tIns="0" bIns="0"/>
          <a:lstStyle/>
          <a:p>
            <a:pPr algn="l"/>
            <a:r>
              <a:rPr sz="2000" b="0" i="0">
                <a:solidFill>
                  <a:srgbClr val="1D1D1F"/>
                </a:solidFill>
                <a:latin typeface="IBM Plex Sans"/>
                <a:ea typeface="IBM Plex Sans"/>
                <a:cs typeface="IBM Plex Sans"/>
              </a:rPr>
              <a:t/>
            </a:r>
          </a:p>
        </p:txBody>
      </p:sp>
      <p:sp>
        <p:nvSpPr>
          <p:cNvPr id="103" name="Oval 102"/>
          <p:cNvSpPr/>
          <p:nvPr/>
        </p:nvSpPr>
        <p:spPr>
          <a:xfrm>
            <a:off x="9966960" y="8302752"/>
            <a:ext cx="786384" cy="786384"/>
          </a:xfrm>
          <a:prstGeom prst="ellipse">
            <a:avLst/>
          </a:prstGeom>
          <a:solidFill>
            <a:srgbClr val="2E8B62"/>
          </a:solidFill>
          <a:ln>
            <a:noFill/>
          </a:ln>
          <a:effectLst/>
        </p:spPr>
        <p:txBody>
          <a:bodyPr rtlCol="0" anchor="ctr" wrap="square" lIns="0" rIns="0" tIns="0" bIns="0"/>
          <a:lstStyle/>
          <a:p>
            <a:pPr algn="ctr"/>
            <a:r>
              <a:rPr sz="2000" b="1" i="0">
                <a:solidFill>
                  <a:srgbClr val="FFFFFF"/>
                </a:solidFill>
                <a:latin typeface="Montserrat"/>
                <a:ea typeface="Montserrat"/>
                <a:cs typeface="Montserrat"/>
              </a:rPr>
              <a:t>SR</a:t>
            </a:r>
          </a:p>
        </p:txBody>
      </p:sp>
      <p:sp>
        <p:nvSpPr>
          <p:cNvPr id="104" name="TextBox 103"/>
          <p:cNvSpPr txBox="1"/>
          <p:nvPr/>
        </p:nvSpPr>
        <p:spPr>
          <a:xfrm>
            <a:off x="11018520" y="8092440"/>
            <a:ext cx="6492240" cy="1280160"/>
          </a:xfrm>
          <a:prstGeom prst="rect">
            <a:avLst/>
          </a:prstGeom>
          <a:noFill/>
        </p:spPr>
        <p:txBody>
          <a:bodyPr wrap="square" lIns="0" rIns="0" tIns="0" bIns="0" anchor="t">
            <a:spAutoFit/>
          </a:bodyPr>
          <a:lstStyle/>
          <a:p>
            <a:pPr algn="l"/>
            <a:r>
              <a:rPr sz="2400" b="1" i="0">
                <a:solidFill>
                  <a:srgbClr val="1D1D1F"/>
                </a:solidFill>
                <a:latin typeface="Montserrat"/>
                <a:ea typeface="Montserrat"/>
                <a:cs typeface="Montserrat"/>
              </a:rPr>
              <a:t>Sreeram Rajesh</a:t>
            </a:r>
          </a:p>
          <a:p>
            <a:pPr algn="l"/>
            <a:r>
              <a:rPr sz="1700" b="1" i="0">
                <a:solidFill>
                  <a:srgbClr val="2E8B62"/>
                </a:solidFill>
                <a:latin typeface="IBM Plex Sans"/>
                <a:ea typeface="IBM Plex Sans"/>
                <a:cs typeface="IBM Plex Sans"/>
              </a:rPr>
              <a:t>Product interface &amp; evaluation engineer</a:t>
            </a:r>
          </a:p>
          <a:p>
            <a:pPr algn="l"/>
            <a:r>
              <a:rPr sz="1600" b="0" i="0">
                <a:solidFill>
                  <a:srgbClr val="5B6B7F"/>
                </a:solidFill>
                <a:latin typeface="IBM Plex Sans"/>
                <a:ea typeface="IBM Plex Sans"/>
                <a:cs typeface="IBM Plex Sans"/>
              </a:rPr>
              <a:t>Website, run reports, audit verification, test harness, presentation assets</a:t>
            </a:r>
          </a:p>
        </p:txBody>
      </p:sp>
      <p:sp>
        <p:nvSpPr>
          <p:cNvPr id="105" name="TextBox 104"/>
          <p:cNvSpPr txBox="1"/>
          <p:nvPr/>
        </p:nvSpPr>
        <p:spPr>
          <a:xfrm>
            <a:off x="9692640" y="9692640"/>
            <a:ext cx="7955279" cy="320040"/>
          </a:xfrm>
          <a:prstGeom prst="rect">
            <a:avLst/>
          </a:prstGeom>
          <a:noFill/>
        </p:spPr>
        <p:txBody>
          <a:bodyPr wrap="square" lIns="0" rIns="0" tIns="0" bIns="0" anchor="t">
            <a:spAutoFit/>
          </a:bodyPr>
          <a:lstStyle/>
          <a:p>
            <a:pPr algn="l"/>
            <a:r>
              <a:rPr sz="1400" b="0" i="0">
                <a:solidFill>
                  <a:srgbClr val="5B6B7F"/>
                </a:solidFill>
                <a:latin typeface="IBM Plex Sans"/>
                <a:ea typeface="IBM Plex Sans"/>
                <a:cs typeface="IBM Plex Sans"/>
              </a:rPr>
              <a:t>Roles are the responsibilities each member owns in this project.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8" name="Google Shape;98;p14"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99" name="Section"/>
          <p:cNvSpPr txBox="1"/>
          <p:nvPr/>
        </p:nvSpPr>
        <p:spPr>
          <a:xfrm>
            <a:off x="640080" y="1417320"/>
            <a:ext cx="17007840" cy="384048"/>
          </a:xfrm>
          <a:prstGeom prst="rect">
            <a:avLst/>
          </a:prstGeom>
          <a:noFill/>
        </p:spPr>
        <p:txBody>
          <a:bodyPr wrap="square" lIns="0" rIns="0" tIns="0" bIns="0" anchor="t">
            <a:spAutoFit/>
          </a:bodyPr>
          <a:lstStyle/>
          <a:p>
            <a:pPr algn="l"/>
            <a:r>
              <a:rPr sz="2000" b="1" i="0">
                <a:solidFill>
                  <a:srgbClr val="E8772E"/>
                </a:solidFill>
                <a:latin typeface="Montserrat"/>
                <a:ea typeface="Montserrat"/>
                <a:cs typeface="Montserrat"/>
              </a:rPr>
              <a:t>THREAT MODEL</a:t>
            </a:r>
          </a:p>
        </p:txBody>
      </p:sp>
      <p:sp>
        <p:nvSpPr>
          <p:cNvPr id="100" name="Title"/>
          <p:cNvSpPr txBox="1"/>
          <p:nvPr/>
        </p:nvSpPr>
        <p:spPr>
          <a:xfrm>
            <a:off x="640080" y="1810512"/>
            <a:ext cx="17007840" cy="731520"/>
          </a:xfrm>
          <a:prstGeom prst="rect">
            <a:avLst/>
          </a:prstGeom>
          <a:noFill/>
        </p:spPr>
        <p:txBody>
          <a:bodyPr wrap="square" lIns="0" rIns="0" tIns="0" bIns="0" anchor="t">
            <a:spAutoFit/>
          </a:bodyPr>
          <a:lstStyle/>
          <a:p>
            <a:pPr algn="l"/>
            <a:r>
              <a:rPr sz="3600" b="1" i="0">
                <a:solidFill>
                  <a:srgbClr val="1D1D1F"/>
                </a:solidFill>
                <a:latin typeface="Montserrat"/>
                <a:ea typeface="Montserrat"/>
                <a:cs typeface="Montserrat"/>
              </a:rPr>
              <a:t>Who must not see what, and where each rule is enforced</a:t>
            </a:r>
          </a:p>
        </p:txBody>
      </p:sp>
      <p:sp>
        <p:nvSpPr>
          <p:cNvPr id="101" name="Untrusted tenants"/>
          <p:cNvSpPr/>
          <p:nvPr/>
        </p:nvSpPr>
        <p:spPr>
          <a:xfrm>
            <a:off x="640080" y="2743200"/>
            <a:ext cx="5120640" cy="6903720"/>
          </a:xfrm>
          <a:prstGeom prst="roundRect">
            <a:avLst>
              <a:gd name="adj" fmla="val 4000"/>
            </a:avLst>
          </a:prstGeom>
          <a:solidFill>
            <a:srgbClr val="FBE7E5"/>
          </a:solidFill>
          <a:ln w="25400">
            <a:solidFill>
              <a:srgbClr val="C2453B"/>
            </a:solidFill>
            <a:prstDash val="dash"/>
          </a:ln>
          <a:effectLst/>
        </p:spPr>
        <p:txBody>
          <a:bodyPr rtlCol="0" anchor="ctr"/>
          <a:lstStyle/>
          <a:p>
            <a:pPr algn="ctr"/>
          </a:p>
        </p:txBody>
      </p:sp>
      <p:sp>
        <p:nvSpPr>
          <p:cNvPr id="102" name="TextBox 101"/>
          <p:cNvSpPr txBox="1"/>
          <p:nvPr/>
        </p:nvSpPr>
        <p:spPr>
          <a:xfrm>
            <a:off x="868680" y="2834640"/>
            <a:ext cx="4754880" cy="365760"/>
          </a:xfrm>
          <a:prstGeom prst="rect">
            <a:avLst/>
          </a:prstGeom>
          <a:noFill/>
        </p:spPr>
        <p:txBody>
          <a:bodyPr wrap="square" lIns="0" rIns="0" tIns="0" bIns="0" anchor="t">
            <a:spAutoFit/>
          </a:bodyPr>
          <a:lstStyle/>
          <a:p>
            <a:pPr algn="l"/>
            <a:r>
              <a:rPr sz="1500" b="1" i="0">
                <a:solidFill>
                  <a:srgbClr val="C2453B"/>
                </a:solidFill>
                <a:latin typeface="Montserrat"/>
                <a:ea typeface="Montserrat"/>
                <a:cs typeface="Montserrat"/>
              </a:rPr>
              <a:t>UNTRUSTED WORKLOADS</a:t>
            </a:r>
          </a:p>
        </p:txBody>
      </p:sp>
      <p:sp>
        <p:nvSpPr>
          <p:cNvPr id="103" name="TextBox 102"/>
          <p:cNvSpPr txBox="1"/>
          <p:nvPr/>
        </p:nvSpPr>
        <p:spPr>
          <a:xfrm>
            <a:off x="868680" y="3154680"/>
            <a:ext cx="4754880" cy="320040"/>
          </a:xfrm>
          <a:prstGeom prst="rect">
            <a:avLst/>
          </a:prstGeom>
          <a:noFill/>
        </p:spPr>
        <p:txBody>
          <a:bodyPr wrap="square" lIns="0" rIns="0" tIns="0" bIns="0" anchor="t">
            <a:spAutoFit/>
          </a:bodyPr>
          <a:lstStyle/>
          <a:p>
            <a:pPr algn="l"/>
            <a:r>
              <a:rPr sz="1400" b="0" i="0">
                <a:solidFill>
                  <a:srgbClr val="5B6B7F"/>
                </a:solidFill>
                <a:latin typeface="IBM Plex Sans"/>
                <a:ea typeface="IBM Plex Sans"/>
                <a:cs typeface="IBM Plex Sans"/>
              </a:rPr>
              <a:t>no network · rootless · read-only root</a:t>
            </a:r>
          </a:p>
        </p:txBody>
      </p:sp>
      <p:sp>
        <p:nvSpPr>
          <p:cNvPr id="104" name="Rounded Rectangle 103"/>
          <p:cNvSpPr/>
          <p:nvPr/>
        </p:nvSpPr>
        <p:spPr>
          <a:xfrm>
            <a:off x="914400" y="3657600"/>
            <a:ext cx="4572000" cy="1325880"/>
          </a:xfrm>
          <a:prstGeom prst="roundRect">
            <a:avLst>
              <a:gd name="adj" fmla="val 12000"/>
            </a:avLst>
          </a:prstGeom>
          <a:solidFill>
            <a:srgbClr val="FFFFFF"/>
          </a:solidFill>
          <a:ln w="25400">
            <a:solidFill>
              <a:srgbClr val="C2453B"/>
            </a:solidFill>
          </a:ln>
          <a:effectLst/>
        </p:spPr>
        <p:txBody>
          <a:bodyPr rtlCol="0" anchor="ctr" wrap="square" lIns="73152" rIns="73152" tIns="73152" bIns="73152"/>
          <a:lstStyle/>
          <a:p>
            <a:pPr algn="ctr"/>
            <a:r>
              <a:rPr sz="2200" b="1" i="0">
                <a:solidFill>
                  <a:srgbClr val="C2453B"/>
                </a:solidFill>
                <a:latin typeface="Montserrat"/>
                <a:ea typeface="Montserrat"/>
                <a:cs typeface="Montserrat"/>
              </a:rPr>
              <a:t>Red team</a:t>
            </a:r>
          </a:p>
          <a:p>
            <a:pPr algn="ctr"/>
            <a:r>
              <a:rPr sz="1700" b="0" i="0">
                <a:solidFill>
                  <a:srgbClr val="5B6B7F"/>
                </a:solidFill>
                <a:latin typeface="IBM Plex Sans"/>
                <a:ea typeface="IBM Plex Sans"/>
                <a:cs typeface="IBM Plex Sans"/>
              </a:rPr>
              <a:t>attack payloads, private pack</a:t>
            </a:r>
          </a:p>
        </p:txBody>
      </p:sp>
      <p:sp>
        <p:nvSpPr>
          <p:cNvPr id="105" name="Rounded Rectangle 104"/>
          <p:cNvSpPr/>
          <p:nvPr/>
        </p:nvSpPr>
        <p:spPr>
          <a:xfrm>
            <a:off x="914400" y="5486400"/>
            <a:ext cx="4572000" cy="1325880"/>
          </a:xfrm>
          <a:prstGeom prst="roundRect">
            <a:avLst>
              <a:gd name="adj" fmla="val 12000"/>
            </a:avLst>
          </a:prstGeom>
          <a:solidFill>
            <a:srgbClr val="FFFFFF"/>
          </a:solidFill>
          <a:ln w="25400">
            <a:solidFill>
              <a:srgbClr val="2F6DB5"/>
            </a:solidFill>
          </a:ln>
          <a:effectLst/>
        </p:spPr>
        <p:txBody>
          <a:bodyPr rtlCol="0" anchor="ctr" wrap="square" lIns="73152" rIns="73152" tIns="73152" bIns="73152"/>
          <a:lstStyle/>
          <a:p>
            <a:pPr algn="ctr"/>
            <a:r>
              <a:rPr sz="2200" b="1" i="0">
                <a:solidFill>
                  <a:srgbClr val="2F6DB5"/>
                </a:solidFill>
                <a:latin typeface="Montserrat"/>
                <a:ea typeface="Montserrat"/>
                <a:cs typeface="Montserrat"/>
              </a:rPr>
              <a:t>Blue defence runner</a:t>
            </a:r>
          </a:p>
          <a:p>
            <a:pPr algn="ctr"/>
            <a:r>
              <a:rPr sz="1700" b="0" i="0">
                <a:solidFill>
                  <a:srgbClr val="5B6B7F"/>
                </a:solidFill>
                <a:latin typeface="IBM Plex Sans"/>
                <a:ea typeface="IBM Plex Sans"/>
                <a:cs typeface="IBM Plex Sans"/>
              </a:rPr>
              <a:t>frozen defence configuration</a:t>
            </a:r>
          </a:p>
        </p:txBody>
      </p:sp>
      <p:sp>
        <p:nvSpPr>
          <p:cNvPr id="106" name="Rounded Rectangle 105"/>
          <p:cNvSpPr/>
          <p:nvPr/>
        </p:nvSpPr>
        <p:spPr>
          <a:xfrm>
            <a:off x="914400" y="7315200"/>
            <a:ext cx="4572000" cy="1417320"/>
          </a:xfrm>
          <a:prstGeom prst="roundRect">
            <a:avLst>
              <a:gd name="adj" fmla="val 12000"/>
            </a:avLst>
          </a:prstGeom>
          <a:solidFill>
            <a:srgbClr val="FFFFFF"/>
          </a:solidFill>
          <a:ln w="25400">
            <a:solidFill>
              <a:srgbClr val="5B6B7F"/>
            </a:solidFill>
          </a:ln>
          <a:effectLst/>
        </p:spPr>
        <p:txBody>
          <a:bodyPr rtlCol="0" anchor="ctr" wrap="square" lIns="73152" rIns="73152" tIns="73152" bIns="73152"/>
          <a:lstStyle/>
          <a:p>
            <a:pPr algn="ctr"/>
            <a:r>
              <a:rPr sz="2200" b="1" i="0">
                <a:solidFill>
                  <a:srgbClr val="1D1D1F"/>
                </a:solidFill>
                <a:latin typeface="Montserrat"/>
                <a:ea typeface="Montserrat"/>
                <a:cs typeface="Montserrat"/>
              </a:rPr>
              <a:t>Model worker</a:t>
            </a:r>
          </a:p>
          <a:p>
            <a:pPr algn="ctr"/>
            <a:r>
              <a:rPr sz="1700" b="0" i="0">
                <a:solidFill>
                  <a:srgbClr val="5B6B7F"/>
                </a:solidFill>
                <a:latin typeface="IBM Plex Sans"/>
                <a:ea typeface="IBM Plex Sans"/>
                <a:cs typeface="IBM Plex Sans"/>
              </a:rPr>
              <a:t>session state · prompt cache</a:t>
            </a:r>
          </a:p>
        </p:txBody>
      </p:sp>
      <p:sp>
        <p:nvSpPr>
          <p:cNvPr id="1" name="Freeform 0"/>
          <p:cNvSpPr/>
          <p:nvPr/>
        </p:nvSpPr>
        <p:spPr>
          <a:xfrm>
            <a:off x="3200400" y="4983480"/>
            <a:ext cx="0" cy="502920"/>
          </a:xfrm>
          <a:custGeom>
            <a:avLst/>
            <a:gdLst/>
            <a:ahLst/>
            <a:cxnLst/>
            <a:rect l="l" t="t" r="r" b="b"/>
            <a:pathLst>
              <a:path w="0" h="502920">
                <a:moveTo>
                  <a:pt x="0" y="0"/>
                </a:moveTo>
                <a:lnTo>
                  <a:pt x="0" y="502920"/>
                </a:lnTo>
              </a:path>
            </a:pathLst>
          </a:custGeom>
          <a:noFill/>
          <a:ln w="38100">
            <a:solidFill>
              <a:srgbClr val="C2453B"/>
            </a:solidFill>
            <a:prstDash val="dash"/>
            <a:headEnd type="triangle" w="med" len="med"/>
            <a:tailEnd type="triangle" w="med" len="med"/>
          </a:ln>
          <a:effectLst/>
        </p:spPr>
        <p:txBody>
          <a:bodyPr rtlCol="0" anchor="ctr"/>
          <a:lstStyle/>
          <a:p>
            <a:pPr algn="ctr"/>
          </a:p>
        </p:txBody>
      </p:sp>
      <p:sp>
        <p:nvSpPr>
          <p:cNvPr id="107" name="Oval 106"/>
          <p:cNvSpPr/>
          <p:nvPr/>
        </p:nvSpPr>
        <p:spPr>
          <a:xfrm>
            <a:off x="2990088" y="5010912"/>
            <a:ext cx="420624" cy="420624"/>
          </a:xfrm>
          <a:prstGeom prst="ellipse">
            <a:avLst/>
          </a:prstGeom>
          <a:solidFill>
            <a:srgbClr val="C2453B"/>
          </a:solidFill>
          <a:ln>
            <a:noFill/>
          </a:ln>
          <a:effectLst/>
        </p:spPr>
        <p:txBody>
          <a:bodyPr rtlCol="0" anchor="ctr" wrap="square" lIns="0" rIns="0" tIns="0" bIns="0"/>
          <a:lstStyle/>
          <a:p>
            <a:pPr algn="ctr"/>
            <a:r>
              <a:rPr sz="1300" b="1" i="0">
                <a:solidFill>
                  <a:srgbClr val="FFFFFF"/>
                </a:solidFill>
                <a:latin typeface="Montserrat"/>
                <a:ea typeface="Montserrat"/>
                <a:cs typeface="Montserrat"/>
              </a:rPr>
              <a:t>F1</a:t>
            </a:r>
          </a:p>
        </p:txBody>
      </p:sp>
      <p:sp>
        <p:nvSpPr>
          <p:cNvPr id="108" name="Oval 107"/>
          <p:cNvSpPr/>
          <p:nvPr/>
        </p:nvSpPr>
        <p:spPr>
          <a:xfrm>
            <a:off x="5257800" y="7086600"/>
            <a:ext cx="420624" cy="420624"/>
          </a:xfrm>
          <a:prstGeom prst="ellipse">
            <a:avLst/>
          </a:prstGeom>
          <a:solidFill>
            <a:srgbClr val="C2453B"/>
          </a:solidFill>
          <a:ln>
            <a:noFill/>
          </a:ln>
          <a:effectLst/>
        </p:spPr>
        <p:txBody>
          <a:bodyPr rtlCol="0" anchor="ctr" wrap="square" lIns="0" rIns="0" tIns="0" bIns="0"/>
          <a:lstStyle/>
          <a:p>
            <a:pPr algn="ctr"/>
            <a:r>
              <a:rPr sz="1300" b="1" i="0">
                <a:solidFill>
                  <a:srgbClr val="FFFFFF"/>
                </a:solidFill>
                <a:latin typeface="Montserrat"/>
                <a:ea typeface="Montserrat"/>
                <a:cs typeface="Montserrat"/>
              </a:rPr>
              <a:t>F3</a:t>
            </a:r>
          </a:p>
        </p:txBody>
      </p:sp>
      <p:sp>
        <p:nvSpPr>
          <p:cNvPr id="109" name="TextBox 108"/>
          <p:cNvSpPr txBox="1"/>
          <p:nvPr/>
        </p:nvSpPr>
        <p:spPr>
          <a:xfrm>
            <a:off x="914400" y="8823960"/>
            <a:ext cx="4572000" cy="640080"/>
          </a:xfrm>
          <a:prstGeom prst="rect">
            <a:avLst/>
          </a:prstGeom>
          <a:noFill/>
        </p:spPr>
        <p:txBody>
          <a:bodyPr wrap="square" lIns="0" rIns="0" tIns="0" bIns="0" anchor="ctr">
            <a:spAutoFit/>
          </a:bodyPr>
          <a:lstStyle/>
          <a:p>
            <a:pPr algn="l"/>
            <a:r>
              <a:rPr sz="1400" b="1" i="0">
                <a:solidFill>
                  <a:srgbClr val="C2453B"/>
                </a:solidFill>
                <a:latin typeface="IBM Plex Sans"/>
                <a:ea typeface="IBM Plex Sans"/>
                <a:cs typeface="IBM Plex Sans"/>
              </a:rPr>
              <a:t>F3 · session N must not read session N+1</a:t>
            </a:r>
          </a:p>
        </p:txBody>
      </p:sp>
      <p:sp>
        <p:nvSpPr>
          <p:cNvPr id="110" name="Trusted control plane"/>
          <p:cNvSpPr/>
          <p:nvPr/>
        </p:nvSpPr>
        <p:spPr>
          <a:xfrm>
            <a:off x="6675120" y="2743200"/>
            <a:ext cx="4846320" cy="6903720"/>
          </a:xfrm>
          <a:prstGeom prst="roundRect">
            <a:avLst>
              <a:gd name="adj" fmla="val 4000"/>
            </a:avLst>
          </a:prstGeom>
          <a:solidFill>
            <a:srgbClr val="F6F8FA"/>
          </a:solidFill>
          <a:ln w="25400">
            <a:solidFill>
              <a:srgbClr val="13233A"/>
            </a:solidFill>
            <a:prstDash val="dash"/>
          </a:ln>
          <a:effectLst/>
        </p:spPr>
        <p:txBody>
          <a:bodyPr rtlCol="0" anchor="ctr"/>
          <a:lstStyle/>
          <a:p>
            <a:pPr algn="ctr"/>
          </a:p>
        </p:txBody>
      </p:sp>
      <p:sp>
        <p:nvSpPr>
          <p:cNvPr id="111" name="TextBox 110"/>
          <p:cNvSpPr txBox="1"/>
          <p:nvPr/>
        </p:nvSpPr>
        <p:spPr>
          <a:xfrm>
            <a:off x="6858000" y="2834640"/>
            <a:ext cx="4480560" cy="365760"/>
          </a:xfrm>
          <a:prstGeom prst="rect">
            <a:avLst/>
          </a:prstGeom>
          <a:noFill/>
        </p:spPr>
        <p:txBody>
          <a:bodyPr wrap="square" lIns="0" rIns="0" tIns="0" bIns="0" anchor="t">
            <a:spAutoFit/>
          </a:bodyPr>
          <a:lstStyle/>
          <a:p>
            <a:pPr algn="l"/>
            <a:r>
              <a:rPr sz="1500" b="1" i="0">
                <a:solidFill>
                  <a:srgbClr val="13233A"/>
                </a:solidFill>
                <a:latin typeface="Montserrat"/>
                <a:ea typeface="Montserrat"/>
                <a:cs typeface="Montserrat"/>
              </a:rPr>
              <a:t>TRUSTED CONTROL PLANE (HOST)</a:t>
            </a:r>
          </a:p>
        </p:txBody>
      </p:sp>
      <p:sp>
        <p:nvSpPr>
          <p:cNvPr id="112" name="Rounded Rectangle 111"/>
          <p:cNvSpPr/>
          <p:nvPr/>
        </p:nvSpPr>
        <p:spPr>
          <a:xfrm>
            <a:off x="6949440" y="3657600"/>
            <a:ext cx="4297680" cy="2286000"/>
          </a:xfrm>
          <a:prstGeom prst="roundRect">
            <a:avLst>
              <a:gd name="adj" fmla="val 12000"/>
            </a:avLst>
          </a:prstGeom>
          <a:solidFill>
            <a:srgbClr val="FCEBDD"/>
          </a:solidFill>
          <a:ln w="38100">
            <a:solidFill>
              <a:srgbClr val="E8772E"/>
            </a:solidFill>
          </a:ln>
          <a:effectLst/>
        </p:spPr>
        <p:txBody>
          <a:bodyPr rtlCol="0" anchor="ctr" wrap="square" lIns="73152" rIns="73152" tIns="73152" bIns="73152"/>
          <a:lstStyle/>
          <a:p>
            <a:pPr algn="ctr"/>
            <a:r>
              <a:rPr sz="2200" b="1" i="0">
                <a:solidFill>
                  <a:srgbClr val="1D1D1F"/>
                </a:solidFill>
                <a:latin typeface="Montserrat"/>
                <a:ea typeface="Montserrat"/>
                <a:cs typeface="Montserrat"/>
              </a:rPr>
              <a:t>Trusted broker</a:t>
            </a:r>
          </a:p>
          <a:p>
            <a:pPr algn="ctr"/>
            <a:r>
              <a:rPr sz="1700" b="0" i="0">
                <a:solidFill>
                  <a:srgbClr val="5B6B7F"/>
                </a:solidFill>
                <a:latin typeface="IBM Plex Sans"/>
                <a:ea typeface="IBM Plex Sans"/>
                <a:cs typeface="IBM Plex Sans"/>
              </a:rPr>
              <a:t>identity = which mailbox</a:t>
            </a:r>
          </a:p>
          <a:p>
            <a:pPr algn="ctr"/>
            <a:r>
              <a:rPr sz="1700" b="0" i="0">
                <a:solidFill>
                  <a:srgbClr val="5B6B7F"/>
                </a:solidFill>
                <a:latin typeface="IBM Plex Sans"/>
                <a:ea typeface="IBM Plex Sans"/>
                <a:cs typeface="IBM Plex Sans"/>
              </a:rPr>
              <a:t>checks commitments</a:t>
            </a:r>
          </a:p>
          <a:p>
            <a:pPr algn="ctr"/>
            <a:r>
              <a:rPr sz="1700" b="0" i="0">
                <a:solidFill>
                  <a:srgbClr val="5B6B7F"/>
                </a:solidFill>
                <a:latin typeface="IBM Plex Sans"/>
                <a:ea typeface="IBM Plex Sans"/>
                <a:cs typeface="IBM Plex Sans"/>
              </a:rPr>
              <a:t>withholds foreign canaries</a:t>
            </a:r>
          </a:p>
        </p:txBody>
      </p:sp>
      <p:sp>
        <p:nvSpPr>
          <p:cNvPr id="113" name="Rounded Rectangle 112"/>
          <p:cNvSpPr/>
          <p:nvPr/>
        </p:nvSpPr>
        <p:spPr>
          <a:xfrm>
            <a:off x="6949440" y="6400800"/>
            <a:ext cx="4297680" cy="1554480"/>
          </a:xfrm>
          <a:prstGeom prst="roundRect">
            <a:avLst>
              <a:gd name="adj" fmla="val 12000"/>
            </a:avLst>
          </a:prstGeom>
          <a:solidFill>
            <a:srgbClr val="FFFFFF"/>
          </a:solidFill>
          <a:ln w="25400">
            <a:solidFill>
              <a:srgbClr val="13233A"/>
            </a:solidFill>
          </a:ln>
          <a:effectLst/>
        </p:spPr>
        <p:txBody>
          <a:bodyPr rtlCol="0" anchor="ctr" wrap="square" lIns="73152" rIns="73152" tIns="73152" bIns="73152"/>
          <a:lstStyle/>
          <a:p>
            <a:pPr algn="ctr"/>
            <a:r>
              <a:rPr sz="2000" b="1" i="0">
                <a:solidFill>
                  <a:srgbClr val="1D1D1F"/>
                </a:solidFill>
                <a:latin typeface="Montserrat"/>
                <a:ea typeface="Montserrat"/>
                <a:cs typeface="Montserrat"/>
              </a:rPr>
              <a:t>Audit · sealed store · gate</a:t>
            </a:r>
          </a:p>
          <a:p>
            <a:pPr algn="ctr"/>
            <a:r>
              <a:rPr sz="1700" b="0" i="0">
                <a:solidFill>
                  <a:srgbClr val="5B6B7F"/>
                </a:solidFill>
                <a:latin typeface="IBM Plex Sans"/>
                <a:ea typeface="IBM Plex Sans"/>
                <a:cs typeface="IBM Plex Sans"/>
              </a:rPr>
              <a:t>hash chain · signed checkpoints</a:t>
            </a:r>
          </a:p>
        </p:txBody>
      </p:sp>
      <p:sp>
        <p:nvSpPr>
          <p:cNvPr id="114" name="Rounded Rectangle 113"/>
          <p:cNvSpPr/>
          <p:nvPr/>
        </p:nvSpPr>
        <p:spPr>
          <a:xfrm>
            <a:off x="6949440" y="8229600"/>
            <a:ext cx="4297680" cy="1097280"/>
          </a:xfrm>
          <a:prstGeom prst="roundRect">
            <a:avLst>
              <a:gd name="adj" fmla="val 12000"/>
            </a:avLst>
          </a:prstGeom>
          <a:solidFill>
            <a:srgbClr val="FFF1D6"/>
          </a:solidFill>
          <a:ln w="25400">
            <a:solidFill>
              <a:srgbClr val="9A6200"/>
            </a:solidFill>
          </a:ln>
          <a:effectLst/>
        </p:spPr>
        <p:txBody>
          <a:bodyPr rtlCol="0" anchor="ctr" wrap="square" lIns="73152" rIns="73152" tIns="73152" bIns="73152"/>
          <a:lstStyle/>
          <a:p>
            <a:pPr algn="ctr"/>
            <a:r>
              <a:rPr sz="1900" b="1" i="0">
                <a:solidFill>
                  <a:srgbClr val="9A6200"/>
                </a:solidFill>
                <a:latin typeface="Montserrat"/>
                <a:ea typeface="Montserrat"/>
                <a:cs typeface="Montserrat"/>
              </a:rPr>
              <a:t>Signing key</a:t>
            </a:r>
          </a:p>
          <a:p>
            <a:pPr algn="ctr"/>
            <a:r>
              <a:rPr sz="1600" b="0" i="0">
                <a:solidFill>
                  <a:srgbClr val="5B6B7F"/>
                </a:solidFill>
                <a:latin typeface="IBM Plex Sans"/>
                <a:ea typeface="IBM Plex Sans"/>
                <a:cs typeface="IBM Plex Sans"/>
              </a:rPr>
              <a:t>never reachable by tenants</a:t>
            </a:r>
          </a:p>
        </p:txBody>
      </p:sp>
      <p:sp>
        <p:nvSpPr>
          <p:cNvPr id="2" name="Freeform 1"/>
          <p:cNvSpPr/>
          <p:nvPr/>
        </p:nvSpPr>
        <p:spPr>
          <a:xfrm>
            <a:off x="5486400" y="4315968"/>
            <a:ext cx="1463040" cy="0"/>
          </a:xfrm>
          <a:custGeom>
            <a:avLst/>
            <a:gdLst/>
            <a:ahLst/>
            <a:cxnLst/>
            <a:rect l="l" t="t" r="r" b="b"/>
            <a:pathLst>
              <a:path w="1463040" h="0">
                <a:moveTo>
                  <a:pt x="0" y="0"/>
                </a:moveTo>
                <a:lnTo>
                  <a:pt x="1463040" y="0"/>
                </a:lnTo>
              </a:path>
            </a:pathLst>
          </a:custGeom>
          <a:noFill/>
          <a:ln w="38100">
            <a:solidFill>
              <a:srgbClr val="2E8B62"/>
            </a:solidFill>
            <a:headEnd type="triangle" w="med" len="med"/>
            <a:tailEnd type="triangle" w="med" len="med"/>
          </a:ln>
          <a:effectLst/>
        </p:spPr>
        <p:txBody>
          <a:bodyPr rtlCol="0" anchor="ctr"/>
          <a:lstStyle/>
          <a:p>
            <a:pPr algn="ctr"/>
          </a:p>
        </p:txBody>
      </p:sp>
      <p:sp>
        <p:nvSpPr>
          <p:cNvPr id="3" name="Freeform 2"/>
          <p:cNvSpPr/>
          <p:nvPr/>
        </p:nvSpPr>
        <p:spPr>
          <a:xfrm>
            <a:off x="5486400" y="5029200"/>
            <a:ext cx="1463040" cy="1115568"/>
          </a:xfrm>
          <a:custGeom>
            <a:avLst/>
            <a:gdLst/>
            <a:ahLst/>
            <a:cxnLst/>
            <a:rect l="l" t="t" r="r" b="b"/>
            <a:pathLst>
              <a:path w="1463040" h="1115568">
                <a:moveTo>
                  <a:pt x="0" y="1115568"/>
                </a:moveTo>
                <a:lnTo>
                  <a:pt x="822960" y="1115568"/>
                </a:lnTo>
                <a:lnTo>
                  <a:pt x="822960" y="0"/>
                </a:lnTo>
                <a:lnTo>
                  <a:pt x="1463040" y="0"/>
                </a:lnTo>
              </a:path>
            </a:pathLst>
          </a:custGeom>
          <a:noFill/>
          <a:ln w="38100">
            <a:solidFill>
              <a:srgbClr val="2E8B62"/>
            </a:solidFill>
            <a:headEnd type="triangle" w="med" len="med"/>
            <a:tailEnd type="triangle" w="med" len="med"/>
          </a:ln>
          <a:effectLst/>
        </p:spPr>
        <p:txBody>
          <a:bodyPr rtlCol="0" anchor="ctr"/>
          <a:lstStyle/>
          <a:p>
            <a:pPr algn="ctr"/>
          </a:p>
        </p:txBody>
      </p:sp>
      <p:sp>
        <p:nvSpPr>
          <p:cNvPr id="4" name="Freeform 3"/>
          <p:cNvSpPr/>
          <p:nvPr/>
        </p:nvSpPr>
        <p:spPr>
          <a:xfrm>
            <a:off x="5486400" y="5486400"/>
            <a:ext cx="1463040" cy="2542031"/>
          </a:xfrm>
          <a:custGeom>
            <a:avLst/>
            <a:gdLst/>
            <a:ahLst/>
            <a:cxnLst/>
            <a:rect l="l" t="t" r="r" b="b"/>
            <a:pathLst>
              <a:path w="1463040" h="2542031">
                <a:moveTo>
                  <a:pt x="0" y="2542031"/>
                </a:moveTo>
                <a:lnTo>
                  <a:pt x="822960" y="2542031"/>
                </a:lnTo>
                <a:lnTo>
                  <a:pt x="822960" y="0"/>
                </a:lnTo>
                <a:lnTo>
                  <a:pt x="1463040" y="0"/>
                </a:lnTo>
              </a:path>
            </a:pathLst>
          </a:custGeom>
          <a:noFill/>
          <a:ln w="38100">
            <a:solidFill>
              <a:srgbClr val="2E8B62"/>
            </a:solidFill>
            <a:headEnd type="triangle" w="med" len="med"/>
            <a:tailEnd type="triangle" w="med" len="med"/>
          </a:ln>
          <a:effectLst/>
        </p:spPr>
        <p:txBody>
          <a:bodyPr rtlCol="0" anchor="ctr"/>
          <a:lstStyle/>
          <a:p>
            <a:pPr algn="ctr"/>
          </a:p>
        </p:txBody>
      </p:sp>
      <p:sp>
        <p:nvSpPr>
          <p:cNvPr id="115" name="Rectangle 114"/>
          <p:cNvSpPr/>
          <p:nvPr/>
        </p:nvSpPr>
        <p:spPr>
          <a:xfrm>
            <a:off x="5577840" y="3840480"/>
            <a:ext cx="1188720" cy="365760"/>
          </a:xfrm>
          <a:prstGeom prst="rect">
            <a:avLst/>
          </a:prstGeom>
          <a:solidFill>
            <a:srgbClr val="FFFFFF"/>
          </a:solidFill>
          <a:ln>
            <a:noFill/>
          </a:ln>
          <a:effectLst/>
        </p:spPr>
        <p:txBody>
          <a:bodyPr rtlCol="0" anchor="t" wrap="square" lIns="0" rIns="0" tIns="0" bIns="0"/>
          <a:lstStyle/>
          <a:p>
            <a:pPr algn="ctr"/>
            <a:r>
              <a:rPr sz="1400" b="1" i="0">
                <a:solidFill>
                  <a:srgbClr val="2E8B62"/>
                </a:solidFill>
                <a:latin typeface="IBM Plex Sans"/>
                <a:ea typeface="IBM Plex Sans"/>
                <a:cs typeface="IBM Plex Sans"/>
              </a:rPr>
              <a:t>mailbox</a:t>
            </a:r>
          </a:p>
        </p:txBody>
      </p:sp>
      <p:sp>
        <p:nvSpPr>
          <p:cNvPr id="5" name="Freeform 4"/>
          <p:cNvSpPr/>
          <p:nvPr/>
        </p:nvSpPr>
        <p:spPr>
          <a:xfrm>
            <a:off x="9098280" y="5943600"/>
            <a:ext cx="0" cy="457200"/>
          </a:xfrm>
          <a:custGeom>
            <a:avLst/>
            <a:gdLst/>
            <a:ahLst/>
            <a:cxnLst/>
            <a:rect l="l" t="t" r="r" b="b"/>
            <a:pathLst>
              <a:path w="0" h="457200">
                <a:moveTo>
                  <a:pt x="0" y="0"/>
                </a:moveTo>
                <a:lnTo>
                  <a:pt x="0" y="457200"/>
                </a:lnTo>
              </a:path>
            </a:pathLst>
          </a:custGeom>
          <a:noFill/>
          <a:ln w="38100">
            <a:solidFill>
              <a:srgbClr val="13233A"/>
            </a:solidFill>
            <a:tailEnd type="triangle" w="med" len="med"/>
          </a:ln>
          <a:effectLst/>
        </p:spPr>
        <p:txBody>
          <a:bodyPr rtlCol="0" anchor="ctr"/>
          <a:lstStyle/>
          <a:p>
            <a:pPr algn="ctr"/>
          </a:p>
        </p:txBody>
      </p:sp>
      <p:sp>
        <p:nvSpPr>
          <p:cNvPr id="6" name="Freeform 5"/>
          <p:cNvSpPr/>
          <p:nvPr/>
        </p:nvSpPr>
        <p:spPr>
          <a:xfrm>
            <a:off x="5486400" y="8778240"/>
            <a:ext cx="1463040" cy="274320"/>
          </a:xfrm>
          <a:custGeom>
            <a:avLst/>
            <a:gdLst/>
            <a:ahLst/>
            <a:cxnLst/>
            <a:rect l="l" t="t" r="r" b="b"/>
            <a:pathLst>
              <a:path w="1463040" h="274320">
                <a:moveTo>
                  <a:pt x="0" y="274320"/>
                </a:moveTo>
                <a:lnTo>
                  <a:pt x="1463040" y="0"/>
                </a:lnTo>
              </a:path>
            </a:pathLst>
          </a:custGeom>
          <a:noFill/>
          <a:ln w="38100">
            <a:solidFill>
              <a:srgbClr val="C2453B"/>
            </a:solidFill>
            <a:prstDash val="dash"/>
            <a:tailEnd type="triangle" w="med" len="med"/>
          </a:ln>
          <a:effectLst/>
        </p:spPr>
        <p:txBody>
          <a:bodyPr rtlCol="0" anchor="ctr"/>
          <a:lstStyle/>
          <a:p>
            <a:pPr algn="ctr"/>
          </a:p>
        </p:txBody>
      </p:sp>
      <p:sp>
        <p:nvSpPr>
          <p:cNvPr id="116" name="Oval 115"/>
          <p:cNvSpPr/>
          <p:nvPr/>
        </p:nvSpPr>
        <p:spPr>
          <a:xfrm>
            <a:off x="5897880" y="8823960"/>
            <a:ext cx="420624" cy="420624"/>
          </a:xfrm>
          <a:prstGeom prst="ellipse">
            <a:avLst/>
          </a:prstGeom>
          <a:solidFill>
            <a:srgbClr val="C2453B"/>
          </a:solidFill>
          <a:ln>
            <a:noFill/>
          </a:ln>
          <a:effectLst/>
        </p:spPr>
        <p:txBody>
          <a:bodyPr rtlCol="0" anchor="ctr" wrap="square" lIns="0" rIns="0" tIns="0" bIns="0"/>
          <a:lstStyle/>
          <a:p>
            <a:pPr algn="ctr"/>
            <a:r>
              <a:rPr sz="1300" b="1" i="0">
                <a:solidFill>
                  <a:srgbClr val="FFFFFF"/>
                </a:solidFill>
                <a:latin typeface="Montserrat"/>
                <a:ea typeface="Montserrat"/>
                <a:cs typeface="Montserrat"/>
              </a:rPr>
              <a:t>F4</a:t>
            </a:r>
          </a:p>
        </p:txBody>
      </p:sp>
      <p:sp>
        <p:nvSpPr>
          <p:cNvPr id="117" name="Rounded Rectangle 116"/>
          <p:cNvSpPr/>
          <p:nvPr/>
        </p:nvSpPr>
        <p:spPr>
          <a:xfrm>
            <a:off x="12070080" y="3657600"/>
            <a:ext cx="2331720" cy="2286000"/>
          </a:xfrm>
          <a:prstGeom prst="roundRect">
            <a:avLst>
              <a:gd name="adj" fmla="val 12000"/>
            </a:avLst>
          </a:prstGeom>
          <a:solidFill>
            <a:srgbClr val="FFFFFF"/>
          </a:solidFill>
          <a:ln w="25400">
            <a:solidFill>
              <a:srgbClr val="2E8B62"/>
            </a:solidFill>
          </a:ln>
          <a:effectLst/>
        </p:spPr>
        <p:txBody>
          <a:bodyPr rtlCol="0" anchor="ctr" wrap="square" lIns="73152" rIns="73152" tIns="73152" bIns="73152"/>
          <a:lstStyle/>
          <a:p>
            <a:pPr algn="ctr"/>
            <a:r>
              <a:rPr sz="2000" b="1" i="0">
                <a:solidFill>
                  <a:srgbClr val="2E8B62"/>
                </a:solidFill>
                <a:latin typeface="Montserrat"/>
                <a:ea typeface="Montserrat"/>
                <a:cs typeface="Montserrat"/>
              </a:rPr>
              <a:t>Reviewer</a:t>
            </a:r>
          </a:p>
          <a:p>
            <a:pPr algn="ctr"/>
            <a:r>
              <a:rPr sz="1600" b="0" i="0">
                <a:solidFill>
                  <a:srgbClr val="5B6B7F"/>
                </a:solidFill>
                <a:latin typeface="IBM Plex Sans"/>
                <a:ea typeface="IBM Plex Sans"/>
                <a:cs typeface="IBM Plex Sans"/>
              </a:rPr>
              <a:t>releases,</a:t>
            </a:r>
          </a:p>
          <a:p>
            <a:pPr algn="ctr"/>
            <a:r>
              <a:rPr sz="1600" b="0" i="0">
                <a:solidFill>
                  <a:srgbClr val="5B6B7F"/>
                </a:solidFill>
                <a:latin typeface="IBM Plex Sans"/>
                <a:ea typeface="IBM Plex Sans"/>
                <a:cs typeface="IBM Plex Sans"/>
              </a:rPr>
              <a:t>verifies</a:t>
            </a:r>
          </a:p>
        </p:txBody>
      </p:sp>
      <p:sp>
        <p:nvSpPr>
          <p:cNvPr id="118" name="Rounded Rectangle 117"/>
          <p:cNvSpPr/>
          <p:nvPr/>
        </p:nvSpPr>
        <p:spPr>
          <a:xfrm>
            <a:off x="12070080" y="6400800"/>
            <a:ext cx="2331720" cy="1554480"/>
          </a:xfrm>
          <a:prstGeom prst="roundRect">
            <a:avLst>
              <a:gd name="adj" fmla="val 12000"/>
            </a:avLst>
          </a:prstGeom>
          <a:solidFill>
            <a:srgbClr val="FFFFFF"/>
          </a:solidFill>
          <a:ln w="25400">
            <a:solidFill>
              <a:srgbClr val="5B6B7F"/>
            </a:solidFill>
          </a:ln>
          <a:effectLst/>
        </p:spPr>
        <p:txBody>
          <a:bodyPr rtlCol="0" anchor="ctr" wrap="square" lIns="73152" rIns="73152" tIns="73152" bIns="73152"/>
          <a:lstStyle/>
          <a:p>
            <a:pPr algn="ctr"/>
            <a:r>
              <a:rPr sz="2000" b="1" i="0">
                <a:solidFill>
                  <a:srgbClr val="1D1D1F"/>
                </a:solidFill>
                <a:latin typeface="Montserrat"/>
                <a:ea typeface="Montserrat"/>
                <a:cs typeface="Montserrat"/>
              </a:rPr>
              <a:t>Observer</a:t>
            </a:r>
          </a:p>
          <a:p>
            <a:pPr algn="ctr"/>
            <a:r>
              <a:rPr sz="1600" b="0" i="0">
                <a:solidFill>
                  <a:srgbClr val="5B6B7F"/>
                </a:solidFill>
                <a:latin typeface="IBM Plex Sans"/>
                <a:ea typeface="IBM Plex Sans"/>
                <a:cs typeface="IBM Plex Sans"/>
              </a:rPr>
              <a:t>redacted</a:t>
            </a:r>
          </a:p>
          <a:p>
            <a:pPr algn="ctr"/>
            <a:r>
              <a:rPr sz="1600" b="0" i="0">
                <a:solidFill>
                  <a:srgbClr val="5B6B7F"/>
                </a:solidFill>
                <a:latin typeface="IBM Plex Sans"/>
                <a:ea typeface="IBM Plex Sans"/>
                <a:cs typeface="IBM Plex Sans"/>
              </a:rPr>
              <a:t>events only</a:t>
            </a:r>
          </a:p>
        </p:txBody>
      </p:sp>
      <p:sp>
        <p:nvSpPr>
          <p:cNvPr id="7" name="Freeform 6"/>
          <p:cNvSpPr/>
          <p:nvPr/>
        </p:nvSpPr>
        <p:spPr>
          <a:xfrm>
            <a:off x="11247120" y="7178040"/>
            <a:ext cx="822960" cy="0"/>
          </a:xfrm>
          <a:custGeom>
            <a:avLst/>
            <a:gdLst/>
            <a:ahLst/>
            <a:cxnLst/>
            <a:rect l="l" t="t" r="r" b="b"/>
            <a:pathLst>
              <a:path w="822960" h="0">
                <a:moveTo>
                  <a:pt x="0" y="0"/>
                </a:moveTo>
                <a:lnTo>
                  <a:pt x="822960" y="0"/>
                </a:lnTo>
              </a:path>
            </a:pathLst>
          </a:custGeom>
          <a:noFill/>
          <a:ln w="31750">
            <a:solidFill>
              <a:srgbClr val="5B6B7F"/>
            </a:solidFill>
            <a:prstDash val="dash"/>
            <a:tailEnd type="triangle" w="med" len="med"/>
          </a:ln>
          <a:effectLst/>
        </p:spPr>
        <p:txBody>
          <a:bodyPr rtlCol="0" anchor="ctr"/>
          <a:lstStyle/>
          <a:p>
            <a:pPr algn="ctr"/>
          </a:p>
        </p:txBody>
      </p:sp>
      <p:sp>
        <p:nvSpPr>
          <p:cNvPr id="8" name="Freeform 7"/>
          <p:cNvSpPr/>
          <p:nvPr/>
        </p:nvSpPr>
        <p:spPr>
          <a:xfrm>
            <a:off x="11247120" y="4800600"/>
            <a:ext cx="822960" cy="0"/>
          </a:xfrm>
          <a:custGeom>
            <a:avLst/>
            <a:gdLst/>
            <a:ahLst/>
            <a:cxnLst/>
            <a:rect l="l" t="t" r="r" b="b"/>
            <a:pathLst>
              <a:path w="822960" h="0">
                <a:moveTo>
                  <a:pt x="0" y="0"/>
                </a:moveTo>
                <a:lnTo>
                  <a:pt x="822960" y="0"/>
                </a:lnTo>
              </a:path>
            </a:pathLst>
          </a:custGeom>
          <a:noFill/>
          <a:ln w="38100">
            <a:solidFill>
              <a:srgbClr val="2E8B62"/>
            </a:solidFill>
            <a:tailEnd type="triangle" w="med" len="med"/>
          </a:ln>
          <a:effectLst/>
        </p:spPr>
        <p:txBody>
          <a:bodyPr rtlCol="0" anchor="ctr"/>
          <a:lstStyle/>
          <a:p>
            <a:pPr algn="ctr"/>
          </a:p>
        </p:txBody>
      </p:sp>
      <p:sp>
        <p:nvSpPr>
          <p:cNvPr id="119" name="Rectangle 118"/>
          <p:cNvSpPr/>
          <p:nvPr/>
        </p:nvSpPr>
        <p:spPr>
          <a:xfrm>
            <a:off x="11109960" y="4160520"/>
            <a:ext cx="1097280" cy="365760"/>
          </a:xfrm>
          <a:prstGeom prst="rect">
            <a:avLst/>
          </a:prstGeom>
          <a:solidFill>
            <a:srgbClr val="FFFFFF"/>
          </a:solidFill>
          <a:ln>
            <a:noFill/>
          </a:ln>
          <a:effectLst/>
        </p:spPr>
        <p:txBody>
          <a:bodyPr rtlCol="0" anchor="t" wrap="square" lIns="0" rIns="0" tIns="0" bIns="0"/>
          <a:lstStyle/>
          <a:p>
            <a:pPr algn="ctr"/>
            <a:r>
              <a:rPr sz="1300" b="1" i="0">
                <a:solidFill>
                  <a:srgbClr val="2E8B62"/>
                </a:solidFill>
                <a:latin typeface="IBM Plex Sans"/>
                <a:ea typeface="IBM Plex Sans"/>
                <a:cs typeface="IBM Plex Sans"/>
              </a:rPr>
              <a:t>release</a:t>
            </a:r>
          </a:p>
        </p:txBody>
      </p:sp>
      <p:sp>
        <p:nvSpPr>
          <p:cNvPr id="9" name="Freeform 8"/>
          <p:cNvSpPr/>
          <p:nvPr/>
        </p:nvSpPr>
        <p:spPr>
          <a:xfrm>
            <a:off x="11247120" y="5669280"/>
            <a:ext cx="822960" cy="914400"/>
          </a:xfrm>
          <a:custGeom>
            <a:avLst/>
            <a:gdLst/>
            <a:ahLst/>
            <a:cxnLst/>
            <a:rect l="l" t="t" r="r" b="b"/>
            <a:pathLst>
              <a:path w="822960" h="914400">
                <a:moveTo>
                  <a:pt x="822960" y="914400"/>
                </a:moveTo>
                <a:lnTo>
                  <a:pt x="0" y="0"/>
                </a:lnTo>
              </a:path>
            </a:pathLst>
          </a:custGeom>
          <a:noFill/>
          <a:ln w="38100">
            <a:solidFill>
              <a:srgbClr val="C2453B"/>
            </a:solidFill>
            <a:prstDash val="dash"/>
            <a:tailEnd type="triangle" w="med" len="med"/>
          </a:ln>
          <a:effectLst/>
        </p:spPr>
        <p:txBody>
          <a:bodyPr rtlCol="0" anchor="ctr"/>
          <a:lstStyle/>
          <a:p>
            <a:pPr algn="ctr"/>
          </a:p>
        </p:txBody>
      </p:sp>
      <p:sp>
        <p:nvSpPr>
          <p:cNvPr id="120" name="Oval 119"/>
          <p:cNvSpPr/>
          <p:nvPr/>
        </p:nvSpPr>
        <p:spPr>
          <a:xfrm>
            <a:off x="11292840" y="5989320"/>
            <a:ext cx="420624" cy="420624"/>
          </a:xfrm>
          <a:prstGeom prst="ellipse">
            <a:avLst/>
          </a:prstGeom>
          <a:solidFill>
            <a:srgbClr val="C2453B"/>
          </a:solidFill>
          <a:ln>
            <a:noFill/>
          </a:ln>
          <a:effectLst/>
        </p:spPr>
        <p:txBody>
          <a:bodyPr rtlCol="0" anchor="ctr" wrap="square" lIns="0" rIns="0" tIns="0" bIns="0"/>
          <a:lstStyle/>
          <a:p>
            <a:pPr algn="ctr"/>
            <a:r>
              <a:rPr sz="1300" b="1" i="0">
                <a:solidFill>
                  <a:srgbClr val="FFFFFF"/>
                </a:solidFill>
                <a:latin typeface="Montserrat"/>
                <a:ea typeface="Montserrat"/>
                <a:cs typeface="Montserrat"/>
              </a:rPr>
              <a:t>F2</a:t>
            </a:r>
          </a:p>
        </p:txBody>
      </p:sp>
      <p:sp>
        <p:nvSpPr>
          <p:cNvPr id="121" name="TextBox 120"/>
          <p:cNvSpPr txBox="1"/>
          <p:nvPr/>
        </p:nvSpPr>
        <p:spPr>
          <a:xfrm>
            <a:off x="14721840" y="2743200"/>
            <a:ext cx="3108960" cy="365760"/>
          </a:xfrm>
          <a:prstGeom prst="rect">
            <a:avLst/>
          </a:prstGeom>
          <a:noFill/>
        </p:spPr>
        <p:txBody>
          <a:bodyPr wrap="square" lIns="0" rIns="0" tIns="0" bIns="0" anchor="t">
            <a:spAutoFit/>
          </a:bodyPr>
          <a:lstStyle/>
          <a:p>
            <a:pPr algn="l"/>
            <a:r>
              <a:rPr sz="1500" b="1" i="0">
                <a:solidFill>
                  <a:srgbClr val="C2453B"/>
                </a:solidFill>
                <a:latin typeface="Montserrat"/>
                <a:ea typeface="Montserrat"/>
                <a:cs typeface="Montserrat"/>
              </a:rPr>
              <a:t>FORBIDDEN FLOWS</a:t>
            </a:r>
          </a:p>
        </p:txBody>
      </p:sp>
      <p:sp>
        <p:nvSpPr>
          <p:cNvPr id="122" name="Oval 121"/>
          <p:cNvSpPr/>
          <p:nvPr/>
        </p:nvSpPr>
        <p:spPr>
          <a:xfrm>
            <a:off x="14721840" y="3200400"/>
            <a:ext cx="384048" cy="384048"/>
          </a:xfrm>
          <a:prstGeom prst="ellipse">
            <a:avLst/>
          </a:prstGeom>
          <a:solidFill>
            <a:srgbClr val="C2453B"/>
          </a:solidFill>
          <a:ln>
            <a:noFill/>
          </a:ln>
          <a:effectLst/>
        </p:spPr>
        <p:txBody>
          <a:bodyPr rtlCol="0" anchor="ctr" wrap="square" lIns="0" rIns="0" tIns="0" bIns="0"/>
          <a:lstStyle/>
          <a:p>
            <a:pPr algn="ctr"/>
            <a:r>
              <a:rPr sz="1200" b="1" i="0">
                <a:solidFill>
                  <a:srgbClr val="FFFFFF"/>
                </a:solidFill>
                <a:latin typeface="Montserrat"/>
                <a:ea typeface="Montserrat"/>
                <a:cs typeface="Montserrat"/>
              </a:rPr>
              <a:t>F1</a:t>
            </a:r>
          </a:p>
        </p:txBody>
      </p:sp>
      <p:sp>
        <p:nvSpPr>
          <p:cNvPr id="123" name="TextBox 122"/>
          <p:cNvSpPr txBox="1"/>
          <p:nvPr/>
        </p:nvSpPr>
        <p:spPr>
          <a:xfrm>
            <a:off x="15224760" y="3118104"/>
            <a:ext cx="2606040" cy="1005840"/>
          </a:xfrm>
          <a:prstGeom prst="rect">
            <a:avLst/>
          </a:prstGeom>
          <a:noFill/>
        </p:spPr>
        <p:txBody>
          <a:bodyPr wrap="square" lIns="0" rIns="0" tIns="0" bIns="0" anchor="t">
            <a:spAutoFit/>
          </a:bodyPr>
          <a:lstStyle/>
          <a:p>
            <a:pPr algn="l"/>
            <a:r>
              <a:rPr sz="1500" b="1" i="0">
                <a:solidFill>
                  <a:srgbClr val="1D1D1F"/>
                </a:solidFill>
                <a:latin typeface="IBM Plex Sans"/>
                <a:ea typeface="IBM Plex Sans"/>
                <a:cs typeface="IBM Plex Sans"/>
              </a:rPr>
              <a:t>Red reads the defence rules</a:t>
            </a:r>
          </a:p>
          <a:p>
            <a:pPr algn="l"/>
            <a:r>
              <a:rPr sz="1300" b="0" i="0">
                <a:solidFill>
                  <a:srgbClr val="5B6B7F"/>
                </a:solidFill>
                <a:latin typeface="IBM Plex Sans"/>
                <a:ea typeface="IBM Plex Sans"/>
                <a:cs typeface="IBM Plex Sans"/>
              </a:rPr>
              <a:t>config mounted only into the defence runner, read-only</a:t>
            </a:r>
          </a:p>
        </p:txBody>
      </p:sp>
      <p:sp>
        <p:nvSpPr>
          <p:cNvPr id="124" name="Oval 123"/>
          <p:cNvSpPr/>
          <p:nvPr/>
        </p:nvSpPr>
        <p:spPr>
          <a:xfrm>
            <a:off x="14721840" y="4206240"/>
            <a:ext cx="384048" cy="384048"/>
          </a:xfrm>
          <a:prstGeom prst="ellipse">
            <a:avLst/>
          </a:prstGeom>
          <a:solidFill>
            <a:srgbClr val="C2453B"/>
          </a:solidFill>
          <a:ln>
            <a:noFill/>
          </a:ln>
          <a:effectLst/>
        </p:spPr>
        <p:txBody>
          <a:bodyPr rtlCol="0" anchor="ctr" wrap="square" lIns="0" rIns="0" tIns="0" bIns="0"/>
          <a:lstStyle/>
          <a:p>
            <a:pPr algn="ctr"/>
            <a:r>
              <a:rPr sz="1200" b="1" i="0">
                <a:solidFill>
                  <a:srgbClr val="FFFFFF"/>
                </a:solidFill>
                <a:latin typeface="Montserrat"/>
                <a:ea typeface="Montserrat"/>
                <a:cs typeface="Montserrat"/>
              </a:rPr>
              <a:t>F2</a:t>
            </a:r>
          </a:p>
        </p:txBody>
      </p:sp>
      <p:sp>
        <p:nvSpPr>
          <p:cNvPr id="125" name="TextBox 124"/>
          <p:cNvSpPr txBox="1"/>
          <p:nvPr/>
        </p:nvSpPr>
        <p:spPr>
          <a:xfrm>
            <a:off x="15224760" y="4123944"/>
            <a:ext cx="2606040" cy="1005840"/>
          </a:xfrm>
          <a:prstGeom prst="rect">
            <a:avLst/>
          </a:prstGeom>
          <a:noFill/>
        </p:spPr>
        <p:txBody>
          <a:bodyPr wrap="square" lIns="0" rIns="0" tIns="0" bIns="0" anchor="t">
            <a:spAutoFit/>
          </a:bodyPr>
          <a:lstStyle/>
          <a:p>
            <a:pPr algn="l"/>
            <a:r>
              <a:rPr sz="1500" b="1" i="0">
                <a:solidFill>
                  <a:srgbClr val="1D1D1F"/>
                </a:solidFill>
                <a:latin typeface="IBM Plex Sans"/>
                <a:ea typeface="IBM Plex Sans"/>
                <a:cs typeface="IBM Plex Sans"/>
              </a:rPr>
              <a:t>Anyone reads results before release</a:t>
            </a:r>
          </a:p>
          <a:p>
            <a:pPr algn="l"/>
            <a:r>
              <a:rPr sz="1300" b="0" i="0">
                <a:solidFill>
                  <a:srgbClr val="5B6B7F"/>
                </a:solidFill>
                <a:latin typeface="IBM Plex Sans"/>
                <a:ea typeface="IBM Plex Sans"/>
                <a:cs typeface="IBM Plex Sans"/>
              </a:rPr>
              <a:t>sealed store, role gate: 403 until RELEASED</a:t>
            </a:r>
          </a:p>
        </p:txBody>
      </p:sp>
      <p:sp>
        <p:nvSpPr>
          <p:cNvPr id="126" name="Oval 125"/>
          <p:cNvSpPr/>
          <p:nvPr/>
        </p:nvSpPr>
        <p:spPr>
          <a:xfrm>
            <a:off x="14721840" y="5212080"/>
            <a:ext cx="384048" cy="384048"/>
          </a:xfrm>
          <a:prstGeom prst="ellipse">
            <a:avLst/>
          </a:prstGeom>
          <a:solidFill>
            <a:srgbClr val="C2453B"/>
          </a:solidFill>
          <a:ln>
            <a:noFill/>
          </a:ln>
          <a:effectLst/>
        </p:spPr>
        <p:txBody>
          <a:bodyPr rtlCol="0" anchor="ctr" wrap="square" lIns="0" rIns="0" tIns="0" bIns="0"/>
          <a:lstStyle/>
          <a:p>
            <a:pPr algn="ctr"/>
            <a:r>
              <a:rPr sz="1200" b="1" i="0">
                <a:solidFill>
                  <a:srgbClr val="FFFFFF"/>
                </a:solidFill>
                <a:latin typeface="Montserrat"/>
                <a:ea typeface="Montserrat"/>
                <a:cs typeface="Montserrat"/>
              </a:rPr>
              <a:t>F3</a:t>
            </a:r>
          </a:p>
        </p:txBody>
      </p:sp>
      <p:sp>
        <p:nvSpPr>
          <p:cNvPr id="127" name="TextBox 126"/>
          <p:cNvSpPr txBox="1"/>
          <p:nvPr/>
        </p:nvSpPr>
        <p:spPr>
          <a:xfrm>
            <a:off x="15224760" y="5129784"/>
            <a:ext cx="2606040" cy="1005840"/>
          </a:xfrm>
          <a:prstGeom prst="rect">
            <a:avLst/>
          </a:prstGeom>
          <a:noFill/>
        </p:spPr>
        <p:txBody>
          <a:bodyPr wrap="square" lIns="0" rIns="0" tIns="0" bIns="0" anchor="t">
            <a:spAutoFit/>
          </a:bodyPr>
          <a:lstStyle/>
          <a:p>
            <a:pPr algn="l"/>
            <a:r>
              <a:rPr sz="1500" b="1" i="0">
                <a:solidFill>
                  <a:srgbClr val="1D1D1F"/>
                </a:solidFill>
                <a:latin typeface="IBM Plex Sans"/>
                <a:ea typeface="IBM Plex Sans"/>
                <a:cs typeface="IBM Plex Sans"/>
              </a:rPr>
              <a:t>One session reads another's data</a:t>
            </a:r>
          </a:p>
          <a:p>
            <a:pPr algn="l"/>
            <a:r>
              <a:rPr sz="1300" b="0" i="0">
                <a:solidFill>
                  <a:srgbClr val="5B6B7F"/>
                </a:solidFill>
                <a:latin typeface="IBM Plex Sans"/>
                <a:ea typeface="IBM Plex Sans"/>
                <a:cs typeface="IBM Plex Sans"/>
              </a:rPr>
              <a:t>one stateless message per request, cache off</a:t>
            </a:r>
          </a:p>
        </p:txBody>
      </p:sp>
      <p:sp>
        <p:nvSpPr>
          <p:cNvPr id="128" name="Oval 127"/>
          <p:cNvSpPr/>
          <p:nvPr/>
        </p:nvSpPr>
        <p:spPr>
          <a:xfrm>
            <a:off x="14721840" y="6217920"/>
            <a:ext cx="384048" cy="384048"/>
          </a:xfrm>
          <a:prstGeom prst="ellipse">
            <a:avLst/>
          </a:prstGeom>
          <a:solidFill>
            <a:srgbClr val="C2453B"/>
          </a:solidFill>
          <a:ln>
            <a:noFill/>
          </a:ln>
          <a:effectLst/>
        </p:spPr>
        <p:txBody>
          <a:bodyPr rtlCol="0" anchor="ctr" wrap="square" lIns="0" rIns="0" tIns="0" bIns="0"/>
          <a:lstStyle/>
          <a:p>
            <a:pPr algn="ctr"/>
            <a:r>
              <a:rPr sz="1200" b="1" i="0">
                <a:solidFill>
                  <a:srgbClr val="FFFFFF"/>
                </a:solidFill>
                <a:latin typeface="Montserrat"/>
                <a:ea typeface="Montserrat"/>
                <a:cs typeface="Montserrat"/>
              </a:rPr>
              <a:t>F4</a:t>
            </a:r>
          </a:p>
        </p:txBody>
      </p:sp>
      <p:sp>
        <p:nvSpPr>
          <p:cNvPr id="129" name="TextBox 128"/>
          <p:cNvSpPr txBox="1"/>
          <p:nvPr/>
        </p:nvSpPr>
        <p:spPr>
          <a:xfrm>
            <a:off x="15224760" y="6135624"/>
            <a:ext cx="2606040" cy="1005840"/>
          </a:xfrm>
          <a:prstGeom prst="rect">
            <a:avLst/>
          </a:prstGeom>
          <a:noFill/>
        </p:spPr>
        <p:txBody>
          <a:bodyPr wrap="square" lIns="0" rIns="0" tIns="0" bIns="0" anchor="t">
            <a:spAutoFit/>
          </a:bodyPr>
          <a:lstStyle/>
          <a:p>
            <a:pPr algn="l"/>
            <a:r>
              <a:rPr sz="1500" b="1" i="0">
                <a:solidFill>
                  <a:srgbClr val="1D1D1F"/>
                </a:solidFill>
                <a:latin typeface="IBM Plex Sans"/>
                <a:ea typeface="IBM Plex Sans"/>
                <a:cs typeface="IBM Plex Sans"/>
              </a:rPr>
              <a:t>A tenant reaches the broker's files or key</a:t>
            </a:r>
          </a:p>
          <a:p>
            <a:pPr algn="l"/>
            <a:r>
              <a:rPr sz="1300" b="0" i="0">
                <a:solidFill>
                  <a:srgbClr val="5B6B7F"/>
                </a:solidFill>
                <a:latin typeface="IBM Plex Sans"/>
                <a:ea typeface="IBM Plex Sans"/>
                <a:cs typeface="IBM Plex Sans"/>
              </a:rPr>
              <a:t>no-follow mailbox I/O, separate mounts</a:t>
            </a:r>
          </a:p>
        </p:txBody>
      </p:sp>
      <p:sp>
        <p:nvSpPr>
          <p:cNvPr id="130" name="Oval 129"/>
          <p:cNvSpPr/>
          <p:nvPr/>
        </p:nvSpPr>
        <p:spPr>
          <a:xfrm>
            <a:off x="14721840" y="7223759"/>
            <a:ext cx="384048" cy="384048"/>
          </a:xfrm>
          <a:prstGeom prst="ellipse">
            <a:avLst/>
          </a:prstGeom>
          <a:solidFill>
            <a:srgbClr val="C2453B"/>
          </a:solidFill>
          <a:ln>
            <a:noFill/>
          </a:ln>
          <a:effectLst/>
        </p:spPr>
        <p:txBody>
          <a:bodyPr rtlCol="0" anchor="ctr" wrap="square" lIns="0" rIns="0" tIns="0" bIns="0"/>
          <a:lstStyle/>
          <a:p>
            <a:pPr algn="ctr"/>
            <a:r>
              <a:rPr sz="1200" b="1" i="0">
                <a:solidFill>
                  <a:srgbClr val="FFFFFF"/>
                </a:solidFill>
                <a:latin typeface="Montserrat"/>
                <a:ea typeface="Montserrat"/>
                <a:cs typeface="Montserrat"/>
              </a:rPr>
              <a:t>F5</a:t>
            </a:r>
          </a:p>
        </p:txBody>
      </p:sp>
      <p:sp>
        <p:nvSpPr>
          <p:cNvPr id="131" name="TextBox 130"/>
          <p:cNvSpPr txBox="1"/>
          <p:nvPr/>
        </p:nvSpPr>
        <p:spPr>
          <a:xfrm>
            <a:off x="15224760" y="7141464"/>
            <a:ext cx="2606040" cy="1005840"/>
          </a:xfrm>
          <a:prstGeom prst="rect">
            <a:avLst/>
          </a:prstGeom>
          <a:noFill/>
        </p:spPr>
        <p:txBody>
          <a:bodyPr wrap="square" lIns="0" rIns="0" tIns="0" bIns="0" anchor="t">
            <a:spAutoFit/>
          </a:bodyPr>
          <a:lstStyle/>
          <a:p>
            <a:pPr algn="l"/>
            <a:r>
              <a:rPr sz="1500" b="1" i="0">
                <a:solidFill>
                  <a:srgbClr val="1D1D1F"/>
                </a:solidFill>
                <a:latin typeface="IBM Plex Sans"/>
                <a:ea typeface="IBM Plex Sans"/>
                <a:cs typeface="IBM Plex Sans"/>
              </a:rPr>
              <a:t>A record is changed unnoticed</a:t>
            </a:r>
          </a:p>
          <a:p>
            <a:pPr algn="l"/>
            <a:r>
              <a:rPr sz="1300" b="0" i="0">
                <a:solidFill>
                  <a:srgbClr val="5B6B7F"/>
                </a:solidFill>
                <a:latin typeface="IBM Plex Sans"/>
                <a:ea typeface="IBM Plex Sans"/>
                <a:cs typeface="IBM Plex Sans"/>
              </a:rPr>
              <a:t>hash chain, signed terminal checkpoint</a:t>
            </a:r>
          </a:p>
        </p:txBody>
      </p:sp>
      <p:sp>
        <p:nvSpPr>
          <p:cNvPr id="132" name="Rounded Rectangle 131"/>
          <p:cNvSpPr/>
          <p:nvPr/>
        </p:nvSpPr>
        <p:spPr>
          <a:xfrm>
            <a:off x="12070080" y="8458200"/>
            <a:ext cx="5760720" cy="1188720"/>
          </a:xfrm>
          <a:prstGeom prst="roundRect">
            <a:avLst>
              <a:gd name="adj" fmla="val 8000"/>
            </a:avLst>
          </a:prstGeom>
          <a:solidFill>
            <a:srgbClr val="FFFFFF"/>
          </a:solidFill>
          <a:ln w="15875">
            <a:solidFill>
              <a:srgbClr val="C9D2DE"/>
            </a:solidFill>
          </a:ln>
          <a:effectLst/>
        </p:spPr>
        <p:txBody>
          <a:bodyPr rtlCol="0" anchor="ctr" wrap="square" lIns="137160" rIns="137160" tIns="137160" bIns="137160"/>
          <a:lstStyle/>
          <a:p>
            <a:pPr algn="l"/>
            <a:r>
              <a:rPr sz="1600" b="1" i="0">
                <a:solidFill>
                  <a:srgbClr val="13233A"/>
                </a:solidFill>
                <a:latin typeface="IBM Plex Sans"/>
                <a:ea typeface="IBM Plex Sans"/>
                <a:cs typeface="IBM Plex Sans"/>
              </a:rPr>
              <a:t>Tested, not assumed: </a:t>
            </a:r>
            <a:r>
              <a:rPr sz="1600" b="0" i="0">
                <a:solidFill>
                  <a:srgbClr val="1D1D1F"/>
                </a:solidFill>
                <a:latin typeface="IBM Plex Sans"/>
                <a:ea typeface="IBM Plex Sans"/>
                <a:cs typeface="IBM Plex Sans"/>
              </a:rPr>
              <a:t>560 role × operation × state attempts: 419 / 419 expected denials denied, 0 unexpectedly permitted.</a:t>
            </a:r>
          </a:p>
        </p:txBody>
      </p:sp>
      <p:sp>
        <p:nvSpPr>
          <p:cNvPr id="133" name="TextBox 132"/>
          <p:cNvSpPr txBox="1"/>
          <p:nvPr/>
        </p:nvSpPr>
        <p:spPr>
          <a:xfrm>
            <a:off x="6675120" y="9710928"/>
            <a:ext cx="11155680" cy="365760"/>
          </a:xfrm>
          <a:prstGeom prst="rect">
            <a:avLst/>
          </a:prstGeom>
          <a:noFill/>
        </p:spPr>
        <p:txBody>
          <a:bodyPr wrap="square" lIns="0" rIns="0" tIns="0" bIns="0" anchor="t">
            <a:spAutoFit/>
          </a:bodyPr>
          <a:lstStyle/>
          <a:p>
            <a:pPr algn="l"/>
            <a:r>
              <a:rPr sz="1400" b="1" i="0">
                <a:solidFill>
                  <a:srgbClr val="2E8B62"/>
                </a:solidFill>
                <a:latin typeface="IBM Plex Sans"/>
                <a:ea typeface="IBM Plex Sans"/>
                <a:cs typeface="IBM Plex Sans"/>
              </a:rPr>
              <a:t>━ permitted via the broker      </a:t>
            </a:r>
            <a:r>
              <a:rPr sz="1400" b="1" i="0">
                <a:solidFill>
                  <a:srgbClr val="C2453B"/>
                </a:solidFill>
                <a:latin typeface="IBM Plex Sans"/>
                <a:ea typeface="IBM Plex Sans"/>
                <a:cs typeface="IBM Plex Sans"/>
              </a:rPr>
              <a:t>┅ forbidden (each one is attacked in a test)      </a:t>
            </a:r>
            <a:r>
              <a:rPr sz="1400" b="1" i="0">
                <a:solidFill>
                  <a:srgbClr val="9A6200"/>
                </a:solidFill>
                <a:latin typeface="IBM Plex Sans"/>
                <a:ea typeface="IBM Plex Sans"/>
                <a:cs typeface="IBM Plex Sans"/>
              </a:rPr>
              <a:t>amber: trusted, not defended</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7" name="Google Shape;107;p15"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08" name="Section"/>
          <p:cNvSpPr txBox="1"/>
          <p:nvPr/>
        </p:nvSpPr>
        <p:spPr>
          <a:xfrm>
            <a:off x="640080" y="1417320"/>
            <a:ext cx="17007840" cy="384048"/>
          </a:xfrm>
          <a:prstGeom prst="rect">
            <a:avLst/>
          </a:prstGeom>
          <a:noFill/>
        </p:spPr>
        <p:txBody>
          <a:bodyPr wrap="square" lIns="0" rIns="0" tIns="0" bIns="0" anchor="t">
            <a:spAutoFit/>
          </a:bodyPr>
          <a:lstStyle/>
          <a:p>
            <a:pPr algn="l"/>
            <a:r>
              <a:rPr sz="2000" b="1" i="0">
                <a:solidFill>
                  <a:srgbClr val="E8772E"/>
                </a:solidFill>
                <a:latin typeface="Montserrat"/>
                <a:ea typeface="Montserrat"/>
                <a:cs typeface="Montserrat"/>
              </a:rPr>
              <a:t>ARCHITECTURE</a:t>
            </a:r>
          </a:p>
        </p:txBody>
      </p:sp>
      <p:sp>
        <p:nvSpPr>
          <p:cNvPr id="109" name="Title"/>
          <p:cNvSpPr txBox="1"/>
          <p:nvPr/>
        </p:nvSpPr>
        <p:spPr>
          <a:xfrm>
            <a:off x="640080" y="1810512"/>
            <a:ext cx="17007840" cy="731520"/>
          </a:xfrm>
          <a:prstGeom prst="rect">
            <a:avLst/>
          </a:prstGeom>
          <a:noFill/>
        </p:spPr>
        <p:txBody>
          <a:bodyPr wrap="square" lIns="0" rIns="0" tIns="0" bIns="0" anchor="t">
            <a:spAutoFit/>
          </a:bodyPr>
          <a:lstStyle/>
          <a:p>
            <a:pPr algn="l"/>
            <a:r>
              <a:rPr sz="3600" b="1" i="0">
                <a:solidFill>
                  <a:srgbClr val="1D1D1F"/>
                </a:solidFill>
                <a:latin typeface="Montserrat"/>
                <a:ea typeface="Montserrat"/>
                <a:cs typeface="Montserrat"/>
              </a:rPr>
              <a:t>Five enforcement layers around one trusted broker</a:t>
            </a:r>
          </a:p>
        </p:txBody>
      </p:sp>
      <p:sp>
        <p:nvSpPr>
          <p:cNvPr id="110" name="Rounded Rectangle 109"/>
          <p:cNvSpPr/>
          <p:nvPr/>
        </p:nvSpPr>
        <p:spPr>
          <a:xfrm>
            <a:off x="640080" y="2834640"/>
            <a:ext cx="3200400" cy="1371600"/>
          </a:xfrm>
          <a:prstGeom prst="roundRect">
            <a:avLst>
              <a:gd name="adj" fmla="val 12000"/>
            </a:avLst>
          </a:prstGeom>
          <a:solidFill>
            <a:srgbClr val="FBE7E5"/>
          </a:solidFill>
          <a:ln w="25400">
            <a:solidFill>
              <a:srgbClr val="C2453B"/>
            </a:solidFill>
          </a:ln>
          <a:effectLst/>
        </p:spPr>
        <p:txBody>
          <a:bodyPr rtlCol="0" anchor="ctr" wrap="square" lIns="73152" rIns="73152" tIns="73152" bIns="73152"/>
          <a:lstStyle/>
          <a:p>
            <a:pPr algn="ctr"/>
            <a:r>
              <a:rPr sz="2000" b="1" i="0">
                <a:solidFill>
                  <a:srgbClr val="C2453B"/>
                </a:solidFill>
                <a:latin typeface="Montserrat"/>
                <a:ea typeface="Montserrat"/>
                <a:cs typeface="Montserrat"/>
              </a:rPr>
              <a:t>Red sandbox</a:t>
            </a:r>
          </a:p>
          <a:p>
            <a:pPr algn="ctr"/>
            <a:r>
              <a:rPr sz="1600" b="0" i="0">
                <a:solidFill>
                  <a:srgbClr val="5B6B7F"/>
                </a:solidFill>
                <a:latin typeface="IBM Plex Sans"/>
                <a:ea typeface="IBM Plex Sans"/>
                <a:cs typeface="IBM Plex Sans"/>
              </a:rPr>
              <a:t>private attack pack</a:t>
            </a:r>
          </a:p>
        </p:txBody>
      </p:sp>
      <p:sp>
        <p:nvSpPr>
          <p:cNvPr id="111" name="Rounded Rectangle 110"/>
          <p:cNvSpPr/>
          <p:nvPr/>
        </p:nvSpPr>
        <p:spPr>
          <a:xfrm>
            <a:off x="640080" y="4572000"/>
            <a:ext cx="3200400" cy="1371600"/>
          </a:xfrm>
          <a:prstGeom prst="roundRect">
            <a:avLst>
              <a:gd name="adj" fmla="val 12000"/>
            </a:avLst>
          </a:prstGeom>
          <a:solidFill>
            <a:srgbClr val="E3EDF9"/>
          </a:solidFill>
          <a:ln w="25400">
            <a:solidFill>
              <a:srgbClr val="2F6DB5"/>
            </a:solidFill>
          </a:ln>
          <a:effectLst/>
        </p:spPr>
        <p:txBody>
          <a:bodyPr rtlCol="0" anchor="ctr" wrap="square" lIns="73152" rIns="73152" tIns="73152" bIns="73152"/>
          <a:lstStyle/>
          <a:p>
            <a:pPr algn="ctr"/>
            <a:r>
              <a:rPr sz="1900" b="1" i="0">
                <a:solidFill>
                  <a:srgbClr val="2F6DB5"/>
                </a:solidFill>
                <a:latin typeface="Montserrat"/>
                <a:ea typeface="Montserrat"/>
                <a:cs typeface="Montserrat"/>
              </a:rPr>
              <a:t>Blue defence runner</a:t>
            </a:r>
          </a:p>
          <a:p>
            <a:pPr algn="ctr"/>
            <a:r>
              <a:rPr sz="1600" b="0" i="0">
                <a:solidFill>
                  <a:srgbClr val="5B6B7F"/>
                </a:solidFill>
                <a:latin typeface="IBM Plex Sans"/>
                <a:ea typeface="IBM Plex Sans"/>
                <a:cs typeface="IBM Plex Sans"/>
              </a:rPr>
              <a:t>frozen config, read-only</a:t>
            </a:r>
          </a:p>
        </p:txBody>
      </p:sp>
      <p:sp>
        <p:nvSpPr>
          <p:cNvPr id="112" name="Rounded Rectangle 111"/>
          <p:cNvSpPr/>
          <p:nvPr/>
        </p:nvSpPr>
        <p:spPr>
          <a:xfrm>
            <a:off x="640080" y="6309360"/>
            <a:ext cx="3200400" cy="1874519"/>
          </a:xfrm>
          <a:prstGeom prst="roundRect">
            <a:avLst>
              <a:gd name="adj" fmla="val 12000"/>
            </a:avLst>
          </a:prstGeom>
          <a:solidFill>
            <a:srgbClr val="EEF1F5"/>
          </a:solidFill>
          <a:ln w="25400">
            <a:solidFill>
              <a:srgbClr val="5B6B7F"/>
            </a:solidFill>
          </a:ln>
          <a:effectLst/>
        </p:spPr>
        <p:txBody>
          <a:bodyPr rtlCol="0" anchor="ctr" wrap="square" lIns="73152" rIns="73152" tIns="73152" bIns="73152"/>
          <a:lstStyle/>
          <a:p>
            <a:pPr algn="ctr"/>
            <a:r>
              <a:rPr sz="2000" b="1" i="0">
                <a:solidFill>
                  <a:srgbClr val="1D1D1F"/>
                </a:solidFill>
                <a:latin typeface="Montserrat"/>
                <a:ea typeface="Montserrat"/>
                <a:cs typeface="Montserrat"/>
              </a:rPr>
              <a:t>Model worker</a:t>
            </a:r>
          </a:p>
          <a:p>
            <a:pPr algn="ctr"/>
            <a:r>
              <a:rPr sz="1500" b="0" i="0">
                <a:solidFill>
                  <a:srgbClr val="5B6B7F"/>
                </a:solidFill>
                <a:latin typeface="IBM Plex Sans"/>
                <a:ea typeface="IBM Plex Sans"/>
                <a:cs typeface="IBM Plex Sans"/>
              </a:rPr>
              <a:t>stub: fresh container per run</a:t>
            </a:r>
          </a:p>
          <a:p>
            <a:pPr algn="ctr"/>
            <a:r>
              <a:rPr sz="1500" b="0" i="0">
                <a:solidFill>
                  <a:srgbClr val="5B6B7F"/>
                </a:solidFill>
                <a:latin typeface="IBM Plex Sans"/>
                <a:ea typeface="IBM Plex Sans"/>
                <a:cs typeface="IBM Plex Sans"/>
              </a:rPr>
              <a:t>real model: loopback server</a:t>
            </a:r>
          </a:p>
        </p:txBody>
      </p:sp>
      <p:sp>
        <p:nvSpPr>
          <p:cNvPr id="113" name="TextBox 112"/>
          <p:cNvSpPr txBox="1"/>
          <p:nvPr/>
        </p:nvSpPr>
        <p:spPr>
          <a:xfrm>
            <a:off x="640080" y="8229600"/>
            <a:ext cx="3200400" cy="365760"/>
          </a:xfrm>
          <a:prstGeom prst="rect">
            <a:avLst/>
          </a:prstGeom>
          <a:noFill/>
        </p:spPr>
        <p:txBody>
          <a:bodyPr wrap="square" lIns="0" rIns="0" tIns="0" bIns="0" anchor="t">
            <a:spAutoFit/>
          </a:bodyPr>
          <a:lstStyle/>
          <a:p>
            <a:pPr algn="ctr"/>
            <a:r>
              <a:rPr sz="1200" b="0" i="0">
                <a:solidFill>
                  <a:srgbClr val="5B6B7F"/>
                </a:solidFill>
                <a:latin typeface="IBM Plex Sans"/>
                <a:ea typeface="IBM Plex Sans"/>
                <a:cs typeface="IBM Plex Sans"/>
              </a:rPr>
              <a:t>no network · read-only root</a:t>
            </a:r>
          </a:p>
        </p:txBody>
      </p:sp>
      <p:sp>
        <p:nvSpPr>
          <p:cNvPr id="114" name="Trust boundary"/>
          <p:cNvSpPr/>
          <p:nvPr/>
        </p:nvSpPr>
        <p:spPr>
          <a:xfrm>
            <a:off x="4846320" y="2743200"/>
            <a:ext cx="4754880" cy="5623560"/>
          </a:xfrm>
          <a:prstGeom prst="roundRect">
            <a:avLst>
              <a:gd name="adj" fmla="val 4000"/>
            </a:avLst>
          </a:prstGeom>
          <a:solidFill>
            <a:srgbClr val="F6F8FA"/>
          </a:solidFill>
          <a:ln w="25400">
            <a:solidFill>
              <a:srgbClr val="13233A"/>
            </a:solidFill>
            <a:prstDash val="dash"/>
          </a:ln>
          <a:effectLst/>
        </p:spPr>
        <p:txBody>
          <a:bodyPr rtlCol="0" anchor="ctr"/>
          <a:lstStyle/>
          <a:p>
            <a:pPr algn="ctr"/>
          </a:p>
        </p:txBody>
      </p:sp>
      <p:sp>
        <p:nvSpPr>
          <p:cNvPr id="115" name="TextBox 114"/>
          <p:cNvSpPr txBox="1"/>
          <p:nvPr/>
        </p:nvSpPr>
        <p:spPr>
          <a:xfrm>
            <a:off x="5029200" y="2816352"/>
            <a:ext cx="4389120" cy="365760"/>
          </a:xfrm>
          <a:prstGeom prst="rect">
            <a:avLst/>
          </a:prstGeom>
          <a:noFill/>
        </p:spPr>
        <p:txBody>
          <a:bodyPr wrap="square" lIns="0" rIns="0" tIns="0" bIns="0" anchor="t">
            <a:spAutoFit/>
          </a:bodyPr>
          <a:lstStyle/>
          <a:p>
            <a:pPr algn="l"/>
            <a:r>
              <a:rPr sz="1400" b="1" i="0">
                <a:solidFill>
                  <a:srgbClr val="13233A"/>
                </a:solidFill>
                <a:latin typeface="Montserrat"/>
                <a:ea typeface="Montserrat"/>
                <a:cs typeface="Montserrat"/>
              </a:rPr>
              <a:t>TRUSTED CONTROL PLANE (HOST)</a:t>
            </a:r>
          </a:p>
        </p:txBody>
      </p:sp>
      <p:sp>
        <p:nvSpPr>
          <p:cNvPr id="116" name="Rounded Rectangle 115"/>
          <p:cNvSpPr/>
          <p:nvPr/>
        </p:nvSpPr>
        <p:spPr>
          <a:xfrm>
            <a:off x="5120640" y="3291840"/>
            <a:ext cx="4206240" cy="1828800"/>
          </a:xfrm>
          <a:prstGeom prst="roundRect">
            <a:avLst>
              <a:gd name="adj" fmla="val 12000"/>
            </a:avLst>
          </a:prstGeom>
          <a:solidFill>
            <a:srgbClr val="FFF1D6"/>
          </a:solidFill>
          <a:ln w="38100">
            <a:solidFill>
              <a:srgbClr val="9A6200"/>
            </a:solidFill>
          </a:ln>
          <a:effectLst/>
        </p:spPr>
        <p:txBody>
          <a:bodyPr rtlCol="0" anchor="ctr" wrap="square" lIns="73152" rIns="73152" tIns="73152" bIns="73152"/>
          <a:lstStyle/>
          <a:p>
            <a:pPr algn="ctr"/>
            <a:r>
              <a:rPr sz="2100" b="1" i="0">
                <a:solidFill>
                  <a:srgbClr val="1D1D1F"/>
                </a:solidFill>
                <a:latin typeface="Montserrat"/>
                <a:ea typeface="Montserrat"/>
                <a:cs typeface="Montserrat"/>
              </a:rPr>
              <a:t>Trusted broker</a:t>
            </a:r>
          </a:p>
          <a:p>
            <a:pPr algn="ctr"/>
            <a:r>
              <a:rPr sz="1600" b="0" i="0">
                <a:solidFill>
                  <a:srgbClr val="5B6B7F"/>
                </a:solidFill>
                <a:latin typeface="IBM Plex Sans"/>
                <a:ea typeface="IBM Plex Sans"/>
                <a:cs typeface="IBM Plex Sans"/>
              </a:rPr>
              <a:t>identity bound to mailbox</a:t>
            </a:r>
          </a:p>
          <a:p>
            <a:pPr algn="ctr"/>
            <a:r>
              <a:rPr sz="1600" b="0" i="0">
                <a:solidFill>
                  <a:srgbClr val="5B6B7F"/>
                </a:solidFill>
                <a:latin typeface="IBM Plex Sans"/>
                <a:ea typeface="IBM Plex Sans"/>
                <a:cs typeface="IBM Plex Sans"/>
              </a:rPr>
              <a:t>routes · checks · withholds</a:t>
            </a:r>
          </a:p>
        </p:txBody>
      </p:sp>
      <p:sp>
        <p:nvSpPr>
          <p:cNvPr id="117" name="Rounded Rectangle 116"/>
          <p:cNvSpPr/>
          <p:nvPr/>
        </p:nvSpPr>
        <p:spPr>
          <a:xfrm>
            <a:off x="5120640" y="5486400"/>
            <a:ext cx="2011680" cy="1325880"/>
          </a:xfrm>
          <a:prstGeom prst="roundRect">
            <a:avLst>
              <a:gd name="adj" fmla="val 12000"/>
            </a:avLst>
          </a:prstGeom>
          <a:solidFill>
            <a:srgbClr val="FFFFFF"/>
          </a:solidFill>
          <a:ln w="25400">
            <a:solidFill>
              <a:srgbClr val="13233A"/>
            </a:solidFill>
          </a:ln>
          <a:effectLst/>
        </p:spPr>
        <p:txBody>
          <a:bodyPr rtlCol="0" anchor="ctr" wrap="square" lIns="73152" rIns="73152" tIns="73152" bIns="73152"/>
          <a:lstStyle/>
          <a:p>
            <a:pPr algn="ctr"/>
            <a:r>
              <a:rPr sz="1700" b="1" i="0">
                <a:solidFill>
                  <a:srgbClr val="1D1D1F"/>
                </a:solidFill>
                <a:latin typeface="Montserrat"/>
                <a:ea typeface="Montserrat"/>
                <a:cs typeface="Montserrat"/>
              </a:rPr>
              <a:t>Audit chain</a:t>
            </a:r>
          </a:p>
          <a:p>
            <a:pPr algn="ctr"/>
            <a:r>
              <a:rPr sz="1400" b="0" i="0">
                <a:solidFill>
                  <a:srgbClr val="5B6B7F"/>
                </a:solidFill>
                <a:latin typeface="IBM Plex Sans"/>
                <a:ea typeface="IBM Plex Sans"/>
                <a:cs typeface="IBM Plex Sans"/>
              </a:rPr>
              <a:t>signed checkpoints</a:t>
            </a:r>
          </a:p>
        </p:txBody>
      </p:sp>
      <p:sp>
        <p:nvSpPr>
          <p:cNvPr id="118" name="Rounded Rectangle 117"/>
          <p:cNvSpPr/>
          <p:nvPr/>
        </p:nvSpPr>
        <p:spPr>
          <a:xfrm>
            <a:off x="7315200" y="5486400"/>
            <a:ext cx="2011680" cy="1325880"/>
          </a:xfrm>
          <a:prstGeom prst="roundRect">
            <a:avLst>
              <a:gd name="adj" fmla="val 12000"/>
            </a:avLst>
          </a:prstGeom>
          <a:solidFill>
            <a:srgbClr val="FFFFFF"/>
          </a:solidFill>
          <a:ln w="25400">
            <a:solidFill>
              <a:srgbClr val="2E8B62"/>
            </a:solidFill>
          </a:ln>
          <a:effectLst/>
        </p:spPr>
        <p:txBody>
          <a:bodyPr rtlCol="0" anchor="ctr" wrap="square" lIns="73152" rIns="73152" tIns="73152" bIns="73152"/>
          <a:lstStyle/>
          <a:p>
            <a:pPr algn="ctr"/>
            <a:r>
              <a:rPr sz="1700" b="1" i="0">
                <a:solidFill>
                  <a:srgbClr val="1D1D1F"/>
                </a:solidFill>
                <a:latin typeface="Montserrat"/>
                <a:ea typeface="Montserrat"/>
                <a:cs typeface="Montserrat"/>
              </a:rPr>
              <a:t>Result gate</a:t>
            </a:r>
          </a:p>
          <a:p>
            <a:pPr algn="ctr"/>
            <a:r>
              <a:rPr sz="1400" b="0" i="0">
                <a:solidFill>
                  <a:srgbClr val="5B6B7F"/>
                </a:solidFill>
                <a:latin typeface="IBM Plex Sans"/>
                <a:ea typeface="IBM Plex Sans"/>
                <a:cs typeface="IBM Plex Sans"/>
              </a:rPr>
              <a:t>SEALED + verified</a:t>
            </a:r>
          </a:p>
        </p:txBody>
      </p:sp>
      <p:sp>
        <p:nvSpPr>
          <p:cNvPr id="119" name="Rounded Rectangle 118"/>
          <p:cNvSpPr/>
          <p:nvPr/>
        </p:nvSpPr>
        <p:spPr>
          <a:xfrm>
            <a:off x="5120640" y="7086600"/>
            <a:ext cx="4206240" cy="1097280"/>
          </a:xfrm>
          <a:prstGeom prst="roundRect">
            <a:avLst>
              <a:gd name="adj" fmla="val 12000"/>
            </a:avLst>
          </a:prstGeom>
          <a:solidFill>
            <a:srgbClr val="FFF1D6"/>
          </a:solidFill>
          <a:ln w="25400">
            <a:solidFill>
              <a:srgbClr val="9A6200"/>
            </a:solidFill>
          </a:ln>
          <a:effectLst/>
        </p:spPr>
        <p:txBody>
          <a:bodyPr rtlCol="0" anchor="ctr" wrap="square" lIns="73152" rIns="73152" tIns="73152" bIns="73152"/>
          <a:lstStyle/>
          <a:p>
            <a:pPr algn="ctr"/>
            <a:r>
              <a:rPr sz="1700" b="1" i="0">
                <a:solidFill>
                  <a:srgbClr val="9A6200"/>
                </a:solidFill>
                <a:latin typeface="Montserrat"/>
                <a:ea typeface="Montserrat"/>
                <a:cs typeface="Montserrat"/>
              </a:rPr>
              <a:t>Signing key</a:t>
            </a:r>
          </a:p>
          <a:p>
            <a:pPr algn="ctr"/>
            <a:r>
              <a:rPr sz="1400" b="0" i="0">
                <a:solidFill>
                  <a:srgbClr val="5B6B7F"/>
                </a:solidFill>
                <a:latin typeface="IBM Plex Sans"/>
                <a:ea typeface="IBM Plex Sans"/>
                <a:cs typeface="IBM Plex Sans"/>
              </a:rPr>
              <a:t>held by the broker's user</a:t>
            </a:r>
          </a:p>
        </p:txBody>
      </p:sp>
      <p:sp>
        <p:nvSpPr>
          <p:cNvPr id="1" name="Freeform 0"/>
          <p:cNvSpPr/>
          <p:nvPr/>
        </p:nvSpPr>
        <p:spPr>
          <a:xfrm>
            <a:off x="3840480" y="3520440"/>
            <a:ext cx="1280160" cy="0"/>
          </a:xfrm>
          <a:custGeom>
            <a:avLst/>
            <a:gdLst/>
            <a:ahLst/>
            <a:cxnLst/>
            <a:rect l="l" t="t" r="r" b="b"/>
            <a:pathLst>
              <a:path w="1280160" h="0">
                <a:moveTo>
                  <a:pt x="0" y="0"/>
                </a:moveTo>
                <a:lnTo>
                  <a:pt x="1280160" y="0"/>
                </a:lnTo>
              </a:path>
            </a:pathLst>
          </a:custGeom>
          <a:noFill/>
          <a:ln w="38100">
            <a:solidFill>
              <a:srgbClr val="C2453B"/>
            </a:solidFill>
            <a:headEnd type="triangle" w="med" len="med"/>
            <a:tailEnd type="triangle" w="med" len="med"/>
          </a:ln>
          <a:effectLst/>
        </p:spPr>
        <p:txBody>
          <a:bodyPr rtlCol="0" anchor="ctr"/>
          <a:lstStyle/>
          <a:p>
            <a:pPr algn="ctr"/>
          </a:p>
        </p:txBody>
      </p:sp>
      <p:sp>
        <p:nvSpPr>
          <p:cNvPr id="2" name="Freeform 1"/>
          <p:cNvSpPr/>
          <p:nvPr/>
        </p:nvSpPr>
        <p:spPr>
          <a:xfrm>
            <a:off x="3840480" y="4206240"/>
            <a:ext cx="1280160" cy="1051560"/>
          </a:xfrm>
          <a:custGeom>
            <a:avLst/>
            <a:gdLst/>
            <a:ahLst/>
            <a:cxnLst/>
            <a:rect l="l" t="t" r="r" b="b"/>
            <a:pathLst>
              <a:path w="1280160" h="1051560">
                <a:moveTo>
                  <a:pt x="0" y="1051560"/>
                </a:moveTo>
                <a:lnTo>
                  <a:pt x="640080" y="1051560"/>
                </a:lnTo>
                <a:lnTo>
                  <a:pt x="640080" y="0"/>
                </a:lnTo>
                <a:lnTo>
                  <a:pt x="1280160" y="0"/>
                </a:lnTo>
              </a:path>
            </a:pathLst>
          </a:custGeom>
          <a:noFill/>
          <a:ln w="38100">
            <a:solidFill>
              <a:srgbClr val="2F6DB5"/>
            </a:solidFill>
            <a:headEnd type="triangle" w="med" len="med"/>
            <a:tailEnd type="triangle" w="med" len="med"/>
          </a:ln>
          <a:effectLst/>
        </p:spPr>
        <p:txBody>
          <a:bodyPr rtlCol="0" anchor="ctr"/>
          <a:lstStyle/>
          <a:p>
            <a:pPr algn="ctr"/>
          </a:p>
        </p:txBody>
      </p:sp>
      <p:sp>
        <p:nvSpPr>
          <p:cNvPr id="3" name="Freeform 2"/>
          <p:cNvSpPr/>
          <p:nvPr/>
        </p:nvSpPr>
        <p:spPr>
          <a:xfrm>
            <a:off x="3840480" y="4754880"/>
            <a:ext cx="1280160" cy="2468880"/>
          </a:xfrm>
          <a:custGeom>
            <a:avLst/>
            <a:gdLst/>
            <a:ahLst/>
            <a:cxnLst/>
            <a:rect l="l" t="t" r="r" b="b"/>
            <a:pathLst>
              <a:path w="1280160" h="2468880">
                <a:moveTo>
                  <a:pt x="0" y="2468880"/>
                </a:moveTo>
                <a:lnTo>
                  <a:pt x="640080" y="2468880"/>
                </a:lnTo>
                <a:lnTo>
                  <a:pt x="640080" y="0"/>
                </a:lnTo>
                <a:lnTo>
                  <a:pt x="1280160" y="0"/>
                </a:lnTo>
              </a:path>
            </a:pathLst>
          </a:custGeom>
          <a:noFill/>
          <a:ln w="38100">
            <a:solidFill>
              <a:srgbClr val="5B6B7F"/>
            </a:solidFill>
            <a:headEnd type="triangle" w="med" len="med"/>
            <a:tailEnd type="triangle" w="med" len="med"/>
          </a:ln>
          <a:effectLst/>
        </p:spPr>
        <p:txBody>
          <a:bodyPr rtlCol="0" anchor="ctr"/>
          <a:lstStyle/>
          <a:p>
            <a:pPr algn="ctr"/>
          </a:p>
        </p:txBody>
      </p:sp>
      <p:sp>
        <p:nvSpPr>
          <p:cNvPr id="120" name="TextBox 119"/>
          <p:cNvSpPr txBox="1"/>
          <p:nvPr/>
        </p:nvSpPr>
        <p:spPr>
          <a:xfrm>
            <a:off x="3931920" y="3108960"/>
            <a:ext cx="1188720" cy="320040"/>
          </a:xfrm>
          <a:prstGeom prst="rect">
            <a:avLst/>
          </a:prstGeom>
          <a:noFill/>
        </p:spPr>
        <p:txBody>
          <a:bodyPr wrap="square" lIns="0" rIns="0" tIns="0" bIns="0" anchor="t">
            <a:spAutoFit/>
          </a:bodyPr>
          <a:lstStyle/>
          <a:p>
            <a:pPr algn="ctr"/>
            <a:r>
              <a:rPr sz="1300" b="1" i="0">
                <a:solidFill>
                  <a:srgbClr val="C2453B"/>
                </a:solidFill>
                <a:latin typeface="IBM Plex Sans"/>
                <a:ea typeface="IBM Plex Sans"/>
                <a:cs typeface="IBM Plex Sans"/>
              </a:rPr>
              <a:t>mailbox</a:t>
            </a:r>
          </a:p>
        </p:txBody>
      </p:sp>
      <p:sp>
        <p:nvSpPr>
          <p:cNvPr id="4" name="Freeform 3"/>
          <p:cNvSpPr/>
          <p:nvPr/>
        </p:nvSpPr>
        <p:spPr>
          <a:xfrm>
            <a:off x="6126480" y="5120640"/>
            <a:ext cx="0" cy="365760"/>
          </a:xfrm>
          <a:custGeom>
            <a:avLst/>
            <a:gdLst/>
            <a:ahLst/>
            <a:cxnLst/>
            <a:rect l="l" t="t" r="r" b="b"/>
            <a:pathLst>
              <a:path w="0" h="365760">
                <a:moveTo>
                  <a:pt x="0" y="0"/>
                </a:moveTo>
                <a:lnTo>
                  <a:pt x="0" y="365760"/>
                </a:lnTo>
              </a:path>
            </a:pathLst>
          </a:custGeom>
          <a:noFill/>
          <a:ln w="38100">
            <a:solidFill>
              <a:srgbClr val="13233A"/>
            </a:solidFill>
            <a:tailEnd type="triangle" w="med" len="med"/>
          </a:ln>
          <a:effectLst/>
        </p:spPr>
        <p:txBody>
          <a:bodyPr rtlCol="0" anchor="ctr"/>
          <a:lstStyle/>
          <a:p>
            <a:pPr algn="ctr"/>
          </a:p>
        </p:txBody>
      </p:sp>
      <p:sp>
        <p:nvSpPr>
          <p:cNvPr id="5" name="Freeform 4"/>
          <p:cNvSpPr/>
          <p:nvPr/>
        </p:nvSpPr>
        <p:spPr>
          <a:xfrm>
            <a:off x="7132320" y="6144768"/>
            <a:ext cx="182880" cy="0"/>
          </a:xfrm>
          <a:custGeom>
            <a:avLst/>
            <a:gdLst/>
            <a:ahLst/>
            <a:cxnLst/>
            <a:rect l="l" t="t" r="r" b="b"/>
            <a:pathLst>
              <a:path w="182880" h="0">
                <a:moveTo>
                  <a:pt x="0" y="0"/>
                </a:moveTo>
                <a:lnTo>
                  <a:pt x="182880" y="0"/>
                </a:lnTo>
              </a:path>
            </a:pathLst>
          </a:custGeom>
          <a:noFill/>
          <a:ln w="38100">
            <a:solidFill>
              <a:srgbClr val="2E8B62"/>
            </a:solidFill>
            <a:tailEnd type="triangle" w="med" len="med"/>
          </a:ln>
          <a:effectLst/>
        </p:spPr>
        <p:txBody>
          <a:bodyPr rtlCol="0" anchor="ctr"/>
          <a:lstStyle/>
          <a:p>
            <a:pPr algn="ctr"/>
          </a:p>
        </p:txBody>
      </p:sp>
      <p:sp>
        <p:nvSpPr>
          <p:cNvPr id="121" name="Rounded Rectangle 120"/>
          <p:cNvSpPr/>
          <p:nvPr/>
        </p:nvSpPr>
        <p:spPr>
          <a:xfrm>
            <a:off x="10241280" y="2834640"/>
            <a:ext cx="2468880" cy="1371600"/>
          </a:xfrm>
          <a:prstGeom prst="roundRect">
            <a:avLst>
              <a:gd name="adj" fmla="val 12000"/>
            </a:avLst>
          </a:prstGeom>
          <a:solidFill>
            <a:srgbClr val="FFFFFF"/>
          </a:solidFill>
          <a:ln w="25400">
            <a:solidFill>
              <a:srgbClr val="13233A"/>
            </a:solidFill>
          </a:ln>
          <a:effectLst/>
        </p:spPr>
        <p:txBody>
          <a:bodyPr rtlCol="0" anchor="ctr" wrap="square" lIns="73152" rIns="73152" tIns="73152" bIns="73152"/>
          <a:lstStyle/>
          <a:p>
            <a:pPr algn="ctr"/>
            <a:r>
              <a:rPr sz="1700" b="1" i="0">
                <a:solidFill>
                  <a:srgbClr val="1D1D1F"/>
                </a:solidFill>
                <a:latin typeface="Montserrat"/>
                <a:ea typeface="Montserrat"/>
                <a:cs typeface="Montserrat"/>
              </a:rPr>
              <a:t>Reviewer vault</a:t>
            </a:r>
          </a:p>
          <a:p>
            <a:pPr algn="ctr"/>
            <a:r>
              <a:rPr sz="1400" b="0" i="0">
                <a:solidFill>
                  <a:srgbClr val="5B6B7F"/>
                </a:solidFill>
                <a:latin typeface="IBM Plex Sans"/>
                <a:ea typeface="IBM Plex Sans"/>
                <a:cs typeface="IBM Plex Sans"/>
              </a:rPr>
              <a:t>signed checkpoints kept</a:t>
            </a:r>
          </a:p>
        </p:txBody>
      </p:sp>
      <p:sp>
        <p:nvSpPr>
          <p:cNvPr id="122" name="Rounded Rectangle 121"/>
          <p:cNvSpPr/>
          <p:nvPr/>
        </p:nvSpPr>
        <p:spPr>
          <a:xfrm>
            <a:off x="10241280" y="4572000"/>
            <a:ext cx="2468880" cy="1371600"/>
          </a:xfrm>
          <a:prstGeom prst="roundRect">
            <a:avLst>
              <a:gd name="adj" fmla="val 12000"/>
            </a:avLst>
          </a:prstGeom>
          <a:solidFill>
            <a:srgbClr val="FFFFFF"/>
          </a:solidFill>
          <a:ln w="25400">
            <a:solidFill>
              <a:srgbClr val="2E8B62"/>
            </a:solidFill>
          </a:ln>
          <a:effectLst/>
        </p:spPr>
        <p:txBody>
          <a:bodyPr rtlCol="0" anchor="ctr" wrap="square" lIns="73152" rIns="73152" tIns="73152" bIns="73152"/>
          <a:lstStyle/>
          <a:p>
            <a:pPr algn="ctr"/>
            <a:r>
              <a:rPr sz="1700" b="1" i="0">
                <a:solidFill>
                  <a:srgbClr val="2E8B62"/>
                </a:solidFill>
                <a:latin typeface="Montserrat"/>
                <a:ea typeface="Montserrat"/>
                <a:cs typeface="Montserrat"/>
              </a:rPr>
              <a:t>Strict verifier</a:t>
            </a:r>
          </a:p>
          <a:p>
            <a:pPr algn="ctr"/>
            <a:r>
              <a:rPr sz="1400" b="0" i="0">
                <a:solidFill>
                  <a:srgbClr val="5B6B7F"/>
                </a:solidFill>
                <a:latin typeface="IBM Plex Sans"/>
                <a:ea typeface="IBM Plex Sans"/>
                <a:cs typeface="IBM Plex Sans"/>
              </a:rPr>
              <a:t>separate program</a:t>
            </a:r>
          </a:p>
          <a:p>
            <a:pPr algn="ctr"/>
            <a:r>
              <a:rPr sz="1400" b="0" i="0">
                <a:solidFill>
                  <a:srgbClr val="5B6B7F"/>
                </a:solidFill>
                <a:latin typeface="IBM Plex Sans"/>
                <a:ea typeface="IBM Plex Sans"/>
                <a:cs typeface="IBM Plex Sans"/>
              </a:rPr>
              <a:t>bundle + vault</a:t>
            </a:r>
          </a:p>
        </p:txBody>
      </p:sp>
      <p:sp>
        <p:nvSpPr>
          <p:cNvPr id="123" name="Rounded Rectangle 122"/>
          <p:cNvSpPr/>
          <p:nvPr/>
        </p:nvSpPr>
        <p:spPr>
          <a:xfrm>
            <a:off x="10241280" y="6309360"/>
            <a:ext cx="2468880" cy="1371600"/>
          </a:xfrm>
          <a:prstGeom prst="roundRect">
            <a:avLst>
              <a:gd name="adj" fmla="val 12000"/>
            </a:avLst>
          </a:prstGeom>
          <a:solidFill>
            <a:srgbClr val="FFFFFF"/>
          </a:solidFill>
          <a:ln w="25400">
            <a:solidFill>
              <a:srgbClr val="5B6B7F"/>
            </a:solidFill>
          </a:ln>
          <a:effectLst/>
        </p:spPr>
        <p:txBody>
          <a:bodyPr rtlCol="0" anchor="ctr" wrap="square" lIns="73152" rIns="73152" tIns="73152" bIns="73152"/>
          <a:lstStyle/>
          <a:p>
            <a:pPr algn="ctr"/>
            <a:r>
              <a:rPr sz="1700" b="1" i="0">
                <a:solidFill>
                  <a:srgbClr val="1D1D1F"/>
                </a:solidFill>
                <a:latin typeface="Montserrat"/>
                <a:ea typeface="Montserrat"/>
                <a:cs typeface="Montserrat"/>
              </a:rPr>
              <a:t>Observer view</a:t>
            </a:r>
          </a:p>
          <a:p>
            <a:pPr algn="ctr"/>
            <a:r>
              <a:rPr sz="1400" b="0" i="0">
                <a:solidFill>
                  <a:srgbClr val="5B6B7F"/>
                </a:solidFill>
                <a:latin typeface="IBM Plex Sans"/>
                <a:ea typeface="IBM Plex Sans"/>
                <a:cs typeface="IBM Plex Sans"/>
              </a:rPr>
              <a:t>redacted events</a:t>
            </a:r>
          </a:p>
        </p:txBody>
      </p:sp>
      <p:sp>
        <p:nvSpPr>
          <p:cNvPr id="6" name="Freeform 5"/>
          <p:cNvSpPr/>
          <p:nvPr/>
        </p:nvSpPr>
        <p:spPr>
          <a:xfrm>
            <a:off x="9601200" y="3520440"/>
            <a:ext cx="640080" cy="0"/>
          </a:xfrm>
          <a:custGeom>
            <a:avLst/>
            <a:gdLst/>
            <a:ahLst/>
            <a:cxnLst/>
            <a:rect l="l" t="t" r="r" b="b"/>
            <a:pathLst>
              <a:path w="640080" h="0">
                <a:moveTo>
                  <a:pt x="0" y="0"/>
                </a:moveTo>
                <a:lnTo>
                  <a:pt x="640080" y="0"/>
                </a:lnTo>
              </a:path>
            </a:pathLst>
          </a:custGeom>
          <a:noFill/>
          <a:ln w="31750">
            <a:solidFill>
              <a:srgbClr val="13233A"/>
            </a:solidFill>
            <a:prstDash val="dash"/>
            <a:tailEnd type="triangle" w="med" len="med"/>
          </a:ln>
          <a:effectLst/>
        </p:spPr>
        <p:txBody>
          <a:bodyPr rtlCol="0" anchor="ctr"/>
          <a:lstStyle/>
          <a:p>
            <a:pPr algn="ctr"/>
          </a:p>
        </p:txBody>
      </p:sp>
      <p:sp>
        <p:nvSpPr>
          <p:cNvPr id="7" name="Freeform 6"/>
          <p:cNvSpPr/>
          <p:nvPr/>
        </p:nvSpPr>
        <p:spPr>
          <a:xfrm>
            <a:off x="11475720" y="4206240"/>
            <a:ext cx="0" cy="365760"/>
          </a:xfrm>
          <a:custGeom>
            <a:avLst/>
            <a:gdLst/>
            <a:ahLst/>
            <a:cxnLst/>
            <a:rect l="l" t="t" r="r" b="b"/>
            <a:pathLst>
              <a:path w="0" h="365760">
                <a:moveTo>
                  <a:pt x="0" y="0"/>
                </a:moveTo>
                <a:lnTo>
                  <a:pt x="0" y="365760"/>
                </a:lnTo>
              </a:path>
            </a:pathLst>
          </a:custGeom>
          <a:noFill/>
          <a:ln w="38100">
            <a:solidFill>
              <a:srgbClr val="2E8B62"/>
            </a:solidFill>
            <a:tailEnd type="triangle" w="med" len="med"/>
          </a:ln>
          <a:effectLst/>
        </p:spPr>
        <p:txBody>
          <a:bodyPr rtlCol="0" anchor="ctr"/>
          <a:lstStyle/>
          <a:p>
            <a:pPr algn="ctr"/>
          </a:p>
        </p:txBody>
      </p:sp>
      <p:sp>
        <p:nvSpPr>
          <p:cNvPr id="8" name="Freeform 7"/>
          <p:cNvSpPr/>
          <p:nvPr/>
        </p:nvSpPr>
        <p:spPr>
          <a:xfrm>
            <a:off x="9601200" y="6995160"/>
            <a:ext cx="640080" cy="0"/>
          </a:xfrm>
          <a:custGeom>
            <a:avLst/>
            <a:gdLst/>
            <a:ahLst/>
            <a:cxnLst/>
            <a:rect l="l" t="t" r="r" b="b"/>
            <a:pathLst>
              <a:path w="640080" h="0">
                <a:moveTo>
                  <a:pt x="0" y="0"/>
                </a:moveTo>
                <a:lnTo>
                  <a:pt x="640080" y="0"/>
                </a:lnTo>
              </a:path>
            </a:pathLst>
          </a:custGeom>
          <a:noFill/>
          <a:ln w="31750">
            <a:solidFill>
              <a:srgbClr val="5B6B7F"/>
            </a:solidFill>
            <a:prstDash val="dash"/>
            <a:tailEnd type="triangle" w="med" len="med"/>
          </a:ln>
          <a:effectLst/>
        </p:spPr>
        <p:txBody>
          <a:bodyPr rtlCol="0" anchor="ctr"/>
          <a:lstStyle/>
          <a:p>
            <a:pPr algn="ctr"/>
          </a:p>
        </p:txBody>
      </p:sp>
      <p:sp>
        <p:nvSpPr>
          <p:cNvPr id="124" name="Rounded Rectangle 123"/>
          <p:cNvSpPr/>
          <p:nvPr/>
        </p:nvSpPr>
        <p:spPr>
          <a:xfrm>
            <a:off x="640080" y="8641080"/>
            <a:ext cx="12070080" cy="1005840"/>
          </a:xfrm>
          <a:prstGeom prst="roundRect">
            <a:avLst>
              <a:gd name="adj" fmla="val 12000"/>
            </a:avLst>
          </a:prstGeom>
          <a:solidFill>
            <a:srgbClr val="FFF1D6"/>
          </a:solidFill>
          <a:ln w="15875">
            <a:solidFill>
              <a:srgbClr val="9A6200"/>
            </a:solidFill>
          </a:ln>
          <a:effectLst/>
        </p:spPr>
        <p:txBody>
          <a:bodyPr rtlCol="0" anchor="ctr" wrap="square" lIns="182880" rIns="182880" tIns="182880" bIns="182880"/>
          <a:lstStyle/>
          <a:p>
            <a:pPr algn="l"/>
            <a:r>
              <a:rPr sz="1500" b="1" i="0">
                <a:solidFill>
                  <a:srgbClr val="9A6200"/>
                </a:solidFill>
                <a:latin typeface="Montserrat"/>
                <a:ea typeface="Montserrat"/>
                <a:cs typeface="Montserrat"/>
              </a:rPr>
              <a:t>RESIDUAL TRUST (not defended)  </a:t>
            </a:r>
            <a:r>
              <a:rPr sz="1700" b="0" i="0">
                <a:solidFill>
                  <a:srgbClr val="9A6200"/>
                </a:solidFill>
                <a:latin typeface="IBM Plex Sans"/>
                <a:ea typeface="IBM Plex Sans"/>
                <a:cs typeface="IBM Plex Sans"/>
              </a:rPr>
              <a:t>shared host kernel · container runtime · the trusted broker and its signing key</a:t>
            </a:r>
          </a:p>
        </p:txBody>
      </p:sp>
      <p:sp>
        <p:nvSpPr>
          <p:cNvPr id="125" name="Oval 124"/>
          <p:cNvSpPr/>
          <p:nvPr/>
        </p:nvSpPr>
        <p:spPr>
          <a:xfrm>
            <a:off x="502920" y="2697480"/>
            <a:ext cx="457200" cy="457200"/>
          </a:xfrm>
          <a:prstGeom prst="ellipse">
            <a:avLst/>
          </a:prstGeom>
          <a:solidFill>
            <a:srgbClr val="E8772E"/>
          </a:solidFill>
          <a:ln>
            <a:noFill/>
          </a:ln>
          <a:effectLst/>
        </p:spPr>
        <p:txBody>
          <a:bodyPr rtlCol="0" anchor="ctr" wrap="square" lIns="0" rIns="0" tIns="0" bIns="0"/>
          <a:lstStyle/>
          <a:p>
            <a:pPr algn="ctr"/>
            <a:r>
              <a:rPr sz="1500" b="1" i="0">
                <a:solidFill>
                  <a:srgbClr val="FFFFFF"/>
                </a:solidFill>
                <a:latin typeface="Montserrat"/>
                <a:ea typeface="Montserrat"/>
                <a:cs typeface="Montserrat"/>
              </a:rPr>
              <a:t>1</a:t>
            </a:r>
          </a:p>
        </p:txBody>
      </p:sp>
      <p:sp>
        <p:nvSpPr>
          <p:cNvPr id="126" name="Oval 125"/>
          <p:cNvSpPr/>
          <p:nvPr/>
        </p:nvSpPr>
        <p:spPr>
          <a:xfrm>
            <a:off x="9098280" y="3154680"/>
            <a:ext cx="457200" cy="457200"/>
          </a:xfrm>
          <a:prstGeom prst="ellipse">
            <a:avLst/>
          </a:prstGeom>
          <a:solidFill>
            <a:srgbClr val="E8772E"/>
          </a:solidFill>
          <a:ln>
            <a:noFill/>
          </a:ln>
          <a:effectLst/>
        </p:spPr>
        <p:txBody>
          <a:bodyPr rtlCol="0" anchor="ctr" wrap="square" lIns="0" rIns="0" tIns="0" bIns="0"/>
          <a:lstStyle/>
          <a:p>
            <a:pPr algn="ctr"/>
            <a:r>
              <a:rPr sz="1500" b="1" i="0">
                <a:solidFill>
                  <a:srgbClr val="FFFFFF"/>
                </a:solidFill>
                <a:latin typeface="Montserrat"/>
                <a:ea typeface="Montserrat"/>
                <a:cs typeface="Montserrat"/>
              </a:rPr>
              <a:t>2</a:t>
            </a:r>
          </a:p>
        </p:txBody>
      </p:sp>
      <p:sp>
        <p:nvSpPr>
          <p:cNvPr id="127" name="Oval 126"/>
          <p:cNvSpPr/>
          <p:nvPr/>
        </p:nvSpPr>
        <p:spPr>
          <a:xfrm>
            <a:off x="9098280" y="5349240"/>
            <a:ext cx="457200" cy="457200"/>
          </a:xfrm>
          <a:prstGeom prst="ellipse">
            <a:avLst/>
          </a:prstGeom>
          <a:solidFill>
            <a:srgbClr val="E8772E"/>
          </a:solidFill>
          <a:ln>
            <a:noFill/>
          </a:ln>
          <a:effectLst/>
        </p:spPr>
        <p:txBody>
          <a:bodyPr rtlCol="0" anchor="ctr" wrap="square" lIns="0" rIns="0" tIns="0" bIns="0"/>
          <a:lstStyle/>
          <a:p>
            <a:pPr algn="ctr"/>
            <a:r>
              <a:rPr sz="1500" b="1" i="0">
                <a:solidFill>
                  <a:srgbClr val="FFFFFF"/>
                </a:solidFill>
                <a:latin typeface="Montserrat"/>
                <a:ea typeface="Montserrat"/>
                <a:cs typeface="Montserrat"/>
              </a:rPr>
              <a:t>3</a:t>
            </a:r>
          </a:p>
        </p:txBody>
      </p:sp>
      <p:sp>
        <p:nvSpPr>
          <p:cNvPr id="128" name="Oval 127"/>
          <p:cNvSpPr/>
          <p:nvPr/>
        </p:nvSpPr>
        <p:spPr>
          <a:xfrm>
            <a:off x="502920" y="6217920"/>
            <a:ext cx="457200" cy="457200"/>
          </a:xfrm>
          <a:prstGeom prst="ellipse">
            <a:avLst/>
          </a:prstGeom>
          <a:solidFill>
            <a:srgbClr val="E8772E"/>
          </a:solidFill>
          <a:ln>
            <a:noFill/>
          </a:ln>
          <a:effectLst/>
        </p:spPr>
        <p:txBody>
          <a:bodyPr rtlCol="0" anchor="ctr" wrap="square" lIns="0" rIns="0" tIns="0" bIns="0"/>
          <a:lstStyle/>
          <a:p>
            <a:pPr algn="ctr"/>
            <a:r>
              <a:rPr sz="1500" b="1" i="0">
                <a:solidFill>
                  <a:srgbClr val="FFFFFF"/>
                </a:solidFill>
                <a:latin typeface="Montserrat"/>
                <a:ea typeface="Montserrat"/>
                <a:cs typeface="Montserrat"/>
              </a:rPr>
              <a:t>4</a:t>
            </a:r>
          </a:p>
        </p:txBody>
      </p:sp>
      <p:sp>
        <p:nvSpPr>
          <p:cNvPr id="129" name="Oval 128"/>
          <p:cNvSpPr/>
          <p:nvPr/>
        </p:nvSpPr>
        <p:spPr>
          <a:xfrm>
            <a:off x="10104120" y="4480560"/>
            <a:ext cx="457200" cy="457200"/>
          </a:xfrm>
          <a:prstGeom prst="ellipse">
            <a:avLst/>
          </a:prstGeom>
          <a:solidFill>
            <a:srgbClr val="E8772E"/>
          </a:solidFill>
          <a:ln>
            <a:noFill/>
          </a:ln>
          <a:effectLst/>
        </p:spPr>
        <p:txBody>
          <a:bodyPr rtlCol="0" anchor="ctr" wrap="square" lIns="0" rIns="0" tIns="0" bIns="0"/>
          <a:lstStyle/>
          <a:p>
            <a:pPr algn="ctr"/>
            <a:r>
              <a:rPr sz="1500" b="1" i="0">
                <a:solidFill>
                  <a:srgbClr val="FFFFFF"/>
                </a:solidFill>
                <a:latin typeface="Montserrat"/>
                <a:ea typeface="Montserrat"/>
                <a:cs typeface="Montserrat"/>
              </a:rPr>
              <a:t>5</a:t>
            </a:r>
          </a:p>
        </p:txBody>
      </p:sp>
      <p:sp>
        <p:nvSpPr>
          <p:cNvPr id="130" name="TextBox 129"/>
          <p:cNvSpPr txBox="1"/>
          <p:nvPr/>
        </p:nvSpPr>
        <p:spPr>
          <a:xfrm>
            <a:off x="13167360" y="2743200"/>
            <a:ext cx="4663440" cy="365760"/>
          </a:xfrm>
          <a:prstGeom prst="rect">
            <a:avLst/>
          </a:prstGeom>
          <a:noFill/>
        </p:spPr>
        <p:txBody>
          <a:bodyPr wrap="square" lIns="0" rIns="0" tIns="0" bIns="0" anchor="t">
            <a:spAutoFit/>
          </a:bodyPr>
          <a:lstStyle/>
          <a:p>
            <a:pPr algn="l"/>
            <a:r>
              <a:rPr sz="1500" b="1" i="0">
                <a:solidFill>
                  <a:srgbClr val="13233A"/>
                </a:solidFill>
                <a:latin typeface="Montserrat"/>
                <a:ea typeface="Montserrat"/>
                <a:cs typeface="Montserrat"/>
              </a:rPr>
              <a:t>WHAT EACH LAYER ENFORCES</a:t>
            </a:r>
          </a:p>
        </p:txBody>
      </p:sp>
      <p:sp>
        <p:nvSpPr>
          <p:cNvPr id="131" name="Oval 130"/>
          <p:cNvSpPr/>
          <p:nvPr/>
        </p:nvSpPr>
        <p:spPr>
          <a:xfrm>
            <a:off x="13167360" y="3236976"/>
            <a:ext cx="384048" cy="384048"/>
          </a:xfrm>
          <a:prstGeom prst="ellipse">
            <a:avLst/>
          </a:prstGeom>
          <a:solidFill>
            <a:srgbClr val="E8772E"/>
          </a:solidFill>
          <a:ln>
            <a:noFill/>
          </a:ln>
          <a:effectLst/>
        </p:spPr>
        <p:txBody>
          <a:bodyPr rtlCol="0" anchor="ctr" wrap="square" lIns="0" rIns="0" tIns="0" bIns="0"/>
          <a:lstStyle/>
          <a:p>
            <a:pPr algn="ctr"/>
            <a:r>
              <a:rPr sz="1400" b="1" i="0">
                <a:solidFill>
                  <a:srgbClr val="FFFFFF"/>
                </a:solidFill>
                <a:latin typeface="Montserrat"/>
                <a:ea typeface="Montserrat"/>
                <a:cs typeface="Montserrat"/>
              </a:rPr>
              <a:t>1</a:t>
            </a:r>
          </a:p>
        </p:txBody>
      </p:sp>
      <p:sp>
        <p:nvSpPr>
          <p:cNvPr id="132" name="TextBox 131"/>
          <p:cNvSpPr txBox="1"/>
          <p:nvPr/>
        </p:nvSpPr>
        <p:spPr>
          <a:xfrm>
            <a:off x="13670280" y="3154680"/>
            <a:ext cx="4160520" cy="1280160"/>
          </a:xfrm>
          <a:prstGeom prst="rect">
            <a:avLst/>
          </a:prstGeom>
          <a:noFill/>
        </p:spPr>
        <p:txBody>
          <a:bodyPr wrap="square" lIns="0" rIns="0" tIns="0" bIns="0" anchor="t">
            <a:spAutoFit/>
          </a:bodyPr>
          <a:lstStyle/>
          <a:p>
            <a:pPr algn="l"/>
            <a:r>
              <a:rPr sz="1600" b="1" i="0">
                <a:solidFill>
                  <a:srgbClr val="1D1D1F"/>
                </a:solidFill>
                <a:latin typeface="IBM Plex Sans"/>
                <a:ea typeface="IBM Plex Sans"/>
                <a:cs typeface="IBM Plex Sans"/>
              </a:rPr>
              <a:t>Container limits</a:t>
            </a:r>
          </a:p>
          <a:p>
            <a:pPr algn="l"/>
            <a:r>
              <a:rPr sz="1400" b="0" i="0">
                <a:solidFill>
                  <a:srgbClr val="5B6B7F"/>
                </a:solidFill>
                <a:latin typeface="IBM Plex Sans"/>
                <a:ea typeface="IBM Plex Sans"/>
                <a:cs typeface="IBM Plex Sans"/>
              </a:rPr>
              <a:t>rootless Podman, --network none, read-only root, no capabilities, no-new-privileges, pids/memory/CPU caps</a:t>
            </a:r>
          </a:p>
        </p:txBody>
      </p:sp>
      <p:sp>
        <p:nvSpPr>
          <p:cNvPr id="133" name="Oval 132"/>
          <p:cNvSpPr/>
          <p:nvPr/>
        </p:nvSpPr>
        <p:spPr>
          <a:xfrm>
            <a:off x="13167360" y="4498848"/>
            <a:ext cx="384048" cy="384048"/>
          </a:xfrm>
          <a:prstGeom prst="ellipse">
            <a:avLst/>
          </a:prstGeom>
          <a:solidFill>
            <a:srgbClr val="E8772E"/>
          </a:solidFill>
          <a:ln>
            <a:noFill/>
          </a:ln>
          <a:effectLst/>
        </p:spPr>
        <p:txBody>
          <a:bodyPr rtlCol="0" anchor="ctr" wrap="square" lIns="0" rIns="0" tIns="0" bIns="0"/>
          <a:lstStyle/>
          <a:p>
            <a:pPr algn="ctr"/>
            <a:r>
              <a:rPr sz="1400" b="1" i="0">
                <a:solidFill>
                  <a:srgbClr val="FFFFFF"/>
                </a:solidFill>
                <a:latin typeface="Montserrat"/>
                <a:ea typeface="Montserrat"/>
                <a:cs typeface="Montserrat"/>
              </a:rPr>
              <a:t>2</a:t>
            </a:r>
          </a:p>
        </p:txBody>
      </p:sp>
      <p:sp>
        <p:nvSpPr>
          <p:cNvPr id="134" name="TextBox 133"/>
          <p:cNvSpPr txBox="1"/>
          <p:nvPr/>
        </p:nvSpPr>
        <p:spPr>
          <a:xfrm>
            <a:off x="13670280" y="4416552"/>
            <a:ext cx="4160520" cy="1280160"/>
          </a:xfrm>
          <a:prstGeom prst="rect">
            <a:avLst/>
          </a:prstGeom>
          <a:noFill/>
        </p:spPr>
        <p:txBody>
          <a:bodyPr wrap="square" lIns="0" rIns="0" tIns="0" bIns="0" anchor="t">
            <a:spAutoFit/>
          </a:bodyPr>
          <a:lstStyle/>
          <a:p>
            <a:pPr algn="l"/>
            <a:r>
              <a:rPr sz="1600" b="1" i="0">
                <a:solidFill>
                  <a:srgbClr val="1D1D1F"/>
                </a:solidFill>
                <a:latin typeface="IBM Plex Sans"/>
                <a:ea typeface="IBM Plex Sans"/>
                <a:cs typeface="IBM Plex Sans"/>
              </a:rPr>
              <a:t>Controlled broker path</a:t>
            </a:r>
          </a:p>
          <a:p>
            <a:pPr algn="l"/>
            <a:r>
              <a:rPr sz="1400" b="0" i="0">
                <a:solidFill>
                  <a:srgbClr val="5B6B7F"/>
                </a:solidFill>
                <a:latin typeface="IBM Plex Sans"/>
                <a:ea typeface="IBM Plex Sans"/>
                <a:cs typeface="IBM Plex Sans"/>
              </a:rPr>
              <a:t>file mailbox; in/ and out/ separate mounts; no-follow descriptor I/O; size and type checks</a:t>
            </a:r>
          </a:p>
        </p:txBody>
      </p:sp>
      <p:sp>
        <p:nvSpPr>
          <p:cNvPr id="135" name="Oval 134"/>
          <p:cNvSpPr/>
          <p:nvPr/>
        </p:nvSpPr>
        <p:spPr>
          <a:xfrm>
            <a:off x="13167360" y="5760720"/>
            <a:ext cx="384048" cy="384048"/>
          </a:xfrm>
          <a:prstGeom prst="ellipse">
            <a:avLst/>
          </a:prstGeom>
          <a:solidFill>
            <a:srgbClr val="E8772E"/>
          </a:solidFill>
          <a:ln>
            <a:noFill/>
          </a:ln>
          <a:effectLst/>
        </p:spPr>
        <p:txBody>
          <a:bodyPr rtlCol="0" anchor="ctr" wrap="square" lIns="0" rIns="0" tIns="0" bIns="0"/>
          <a:lstStyle/>
          <a:p>
            <a:pPr algn="ctr"/>
            <a:r>
              <a:rPr sz="1400" b="1" i="0">
                <a:solidFill>
                  <a:srgbClr val="FFFFFF"/>
                </a:solidFill>
                <a:latin typeface="Montserrat"/>
                <a:ea typeface="Montserrat"/>
                <a:cs typeface="Montserrat"/>
              </a:rPr>
              <a:t>3</a:t>
            </a:r>
          </a:p>
        </p:txBody>
      </p:sp>
      <p:sp>
        <p:nvSpPr>
          <p:cNvPr id="136" name="TextBox 135"/>
          <p:cNvSpPr txBox="1"/>
          <p:nvPr/>
        </p:nvSpPr>
        <p:spPr>
          <a:xfrm>
            <a:off x="13670280" y="5678424"/>
            <a:ext cx="4160520" cy="1280160"/>
          </a:xfrm>
          <a:prstGeom prst="rect">
            <a:avLst/>
          </a:prstGeom>
          <a:noFill/>
        </p:spPr>
        <p:txBody>
          <a:bodyPr wrap="square" lIns="0" rIns="0" tIns="0" bIns="0" anchor="t">
            <a:spAutoFit/>
          </a:bodyPr>
          <a:lstStyle/>
          <a:p>
            <a:pPr algn="l"/>
            <a:r>
              <a:rPr sz="1600" b="1" i="0">
                <a:solidFill>
                  <a:srgbClr val="1D1D1F"/>
                </a:solidFill>
                <a:latin typeface="IBM Plex Sans"/>
                <a:ea typeface="IBM Plex Sans"/>
                <a:cs typeface="IBM Plex Sans"/>
              </a:rPr>
              <a:t>Role and run identity</a:t>
            </a:r>
          </a:p>
          <a:p>
            <a:pPr algn="l"/>
            <a:r>
              <a:rPr sz="1400" b="0" i="0">
                <a:solidFill>
                  <a:srgbClr val="5B6B7F"/>
                </a:solidFill>
                <a:latin typeface="IBM Plex Sans"/>
                <a:ea typeface="IBM Plex Sans"/>
                <a:cs typeface="IBM Plex Sans"/>
              </a:rPr>
              <a:t>identity from the mailbox, not the message; server-side role gate; release only when SEALED and verified</a:t>
            </a:r>
          </a:p>
        </p:txBody>
      </p:sp>
      <p:sp>
        <p:nvSpPr>
          <p:cNvPr id="137" name="Oval 136"/>
          <p:cNvSpPr/>
          <p:nvPr/>
        </p:nvSpPr>
        <p:spPr>
          <a:xfrm>
            <a:off x="13167360" y="7022592"/>
            <a:ext cx="384048" cy="384048"/>
          </a:xfrm>
          <a:prstGeom prst="ellipse">
            <a:avLst/>
          </a:prstGeom>
          <a:solidFill>
            <a:srgbClr val="E8772E"/>
          </a:solidFill>
          <a:ln>
            <a:noFill/>
          </a:ln>
          <a:effectLst/>
        </p:spPr>
        <p:txBody>
          <a:bodyPr rtlCol="0" anchor="ctr" wrap="square" lIns="0" rIns="0" tIns="0" bIns="0"/>
          <a:lstStyle/>
          <a:p>
            <a:pPr algn="ctr"/>
            <a:r>
              <a:rPr sz="1400" b="1" i="0">
                <a:solidFill>
                  <a:srgbClr val="FFFFFF"/>
                </a:solidFill>
                <a:latin typeface="Montserrat"/>
                <a:ea typeface="Montserrat"/>
                <a:cs typeface="Montserrat"/>
              </a:rPr>
              <a:t>4</a:t>
            </a:r>
          </a:p>
        </p:txBody>
      </p:sp>
      <p:sp>
        <p:nvSpPr>
          <p:cNvPr id="138" name="TextBox 137"/>
          <p:cNvSpPr txBox="1"/>
          <p:nvPr/>
        </p:nvSpPr>
        <p:spPr>
          <a:xfrm>
            <a:off x="13670280" y="6940296"/>
            <a:ext cx="4160520" cy="1280160"/>
          </a:xfrm>
          <a:prstGeom prst="rect">
            <a:avLst/>
          </a:prstGeom>
          <a:noFill/>
        </p:spPr>
        <p:txBody>
          <a:bodyPr wrap="square" lIns="0" rIns="0" tIns="0" bIns="0" anchor="t">
            <a:spAutoFit/>
          </a:bodyPr>
          <a:lstStyle/>
          <a:p>
            <a:pPr algn="l"/>
            <a:r>
              <a:rPr sz="1600" b="1" i="0">
                <a:solidFill>
                  <a:srgbClr val="1D1D1F"/>
                </a:solidFill>
                <a:latin typeface="IBM Plex Sans"/>
                <a:ea typeface="IBM Plex Sans"/>
                <a:cs typeface="IBM Plex Sans"/>
              </a:rPr>
              <a:t>Model and session isolation</a:t>
            </a:r>
          </a:p>
          <a:p>
            <a:pPr algn="l"/>
            <a:r>
              <a:rPr sz="1400" b="0" i="0">
                <a:solidFill>
                  <a:srgbClr val="5B6B7F"/>
                </a:solidFill>
                <a:latin typeface="IBM Plex Sans"/>
                <a:ea typeface="IBM Plex Sans"/>
                <a:cs typeface="IBM Plex Sans"/>
              </a:rPr>
              <a:t>one user message per request; no session id; cache_prompt false; foreign canaries withheld</a:t>
            </a:r>
          </a:p>
        </p:txBody>
      </p:sp>
      <p:sp>
        <p:nvSpPr>
          <p:cNvPr id="139" name="Oval 138"/>
          <p:cNvSpPr/>
          <p:nvPr/>
        </p:nvSpPr>
        <p:spPr>
          <a:xfrm>
            <a:off x="13167360" y="8284463"/>
            <a:ext cx="384048" cy="384048"/>
          </a:xfrm>
          <a:prstGeom prst="ellipse">
            <a:avLst/>
          </a:prstGeom>
          <a:solidFill>
            <a:srgbClr val="E8772E"/>
          </a:solidFill>
          <a:ln>
            <a:noFill/>
          </a:ln>
          <a:effectLst/>
        </p:spPr>
        <p:txBody>
          <a:bodyPr rtlCol="0" anchor="ctr" wrap="square" lIns="0" rIns="0" tIns="0" bIns="0"/>
          <a:lstStyle/>
          <a:p>
            <a:pPr algn="ctr"/>
            <a:r>
              <a:rPr sz="1400" b="1" i="0">
                <a:solidFill>
                  <a:srgbClr val="FFFFFF"/>
                </a:solidFill>
                <a:latin typeface="Montserrat"/>
                <a:ea typeface="Montserrat"/>
                <a:cs typeface="Montserrat"/>
              </a:rPr>
              <a:t>5</a:t>
            </a:r>
          </a:p>
        </p:txBody>
      </p:sp>
      <p:sp>
        <p:nvSpPr>
          <p:cNvPr id="140" name="TextBox 139"/>
          <p:cNvSpPr txBox="1"/>
          <p:nvPr/>
        </p:nvSpPr>
        <p:spPr>
          <a:xfrm>
            <a:off x="13670280" y="8202167"/>
            <a:ext cx="4160520" cy="1280160"/>
          </a:xfrm>
          <a:prstGeom prst="rect">
            <a:avLst/>
          </a:prstGeom>
          <a:noFill/>
        </p:spPr>
        <p:txBody>
          <a:bodyPr wrap="square" lIns="0" rIns="0" tIns="0" bIns="0" anchor="t">
            <a:spAutoFit/>
          </a:bodyPr>
          <a:lstStyle/>
          <a:p>
            <a:pPr algn="l"/>
            <a:r>
              <a:rPr sz="1600" b="1" i="0">
                <a:solidFill>
                  <a:srgbClr val="1D1D1F"/>
                </a:solidFill>
                <a:latin typeface="IBM Plex Sans"/>
                <a:ea typeface="IBM Plex Sans"/>
                <a:cs typeface="IBM Plex Sans"/>
              </a:rPr>
              <a:t>Audit and verification</a:t>
            </a:r>
          </a:p>
          <a:p>
            <a:pPr algn="l"/>
            <a:r>
              <a:rPr sz="1400" b="0" i="0">
                <a:solidFill>
                  <a:srgbClr val="5B6B7F"/>
                </a:solidFill>
                <a:latin typeface="IBM Plex Sans"/>
                <a:ea typeface="IBM Plex Sans"/>
                <a:cs typeface="IBM Plex Sans"/>
              </a:rPr>
              <a:t>hash chain, signed terminal checkpoint, retained copies, independent strict verifier</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6" name="Google Shape;116;p16"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17" name="Section"/>
          <p:cNvSpPr txBox="1"/>
          <p:nvPr/>
        </p:nvSpPr>
        <p:spPr>
          <a:xfrm>
            <a:off x="640080" y="1417320"/>
            <a:ext cx="17007840" cy="384048"/>
          </a:xfrm>
          <a:prstGeom prst="rect">
            <a:avLst/>
          </a:prstGeom>
          <a:noFill/>
        </p:spPr>
        <p:txBody>
          <a:bodyPr wrap="square" lIns="0" rIns="0" tIns="0" bIns="0" anchor="t">
            <a:spAutoFit/>
          </a:bodyPr>
          <a:lstStyle/>
          <a:p>
            <a:pPr algn="l"/>
            <a:r>
              <a:rPr sz="2000" b="1" i="0">
                <a:solidFill>
                  <a:srgbClr val="E8772E"/>
                </a:solidFill>
                <a:latin typeface="Montserrat"/>
                <a:ea typeface="Montserrat"/>
                <a:cs typeface="Montserrat"/>
              </a:rPr>
              <a:t>ADVERSARIAL DEMONSTRATION</a:t>
            </a:r>
          </a:p>
        </p:txBody>
      </p:sp>
      <p:sp>
        <p:nvSpPr>
          <p:cNvPr id="118" name="Title"/>
          <p:cNvSpPr txBox="1"/>
          <p:nvPr/>
        </p:nvSpPr>
        <p:spPr>
          <a:xfrm>
            <a:off x="640080" y="1810512"/>
            <a:ext cx="17007840" cy="731520"/>
          </a:xfrm>
          <a:prstGeom prst="rect">
            <a:avLst/>
          </a:prstGeom>
          <a:noFill/>
        </p:spPr>
        <p:txBody>
          <a:bodyPr wrap="square" lIns="0" rIns="0" tIns="0" bIns="0" anchor="t">
            <a:spAutoFit/>
          </a:bodyPr>
          <a:lstStyle/>
          <a:p>
            <a:pPr algn="l"/>
            <a:r>
              <a:rPr sz="3600" b="1" i="0">
                <a:solidFill>
                  <a:srgbClr val="1D1D1F"/>
                </a:solidFill>
                <a:latin typeface="Montserrat"/>
                <a:ea typeface="Montserrat"/>
                <a:cs typeface="Montserrat"/>
              </a:rPr>
              <a:t>A hostile sandbox plants a symlink and a FIFO in the broker's mailbox</a:t>
            </a:r>
          </a:p>
        </p:txBody>
      </p:sp>
      <p:sp>
        <p:nvSpPr>
          <p:cNvPr id="119" name="Rounded Rectangle 118"/>
          <p:cNvSpPr/>
          <p:nvPr/>
        </p:nvSpPr>
        <p:spPr>
          <a:xfrm>
            <a:off x="640080" y="2743200"/>
            <a:ext cx="1737360" cy="822960"/>
          </a:xfrm>
          <a:prstGeom prst="roundRect">
            <a:avLst>
              <a:gd name="adj" fmla="val 12000"/>
            </a:avLst>
          </a:prstGeom>
          <a:solidFill>
            <a:srgbClr val="C2453B"/>
          </a:solidFill>
          <a:ln>
            <a:noFill/>
          </a:ln>
          <a:effectLst/>
        </p:spPr>
        <p:txBody>
          <a:bodyPr rtlCol="0" anchor="ctr" wrap="square" lIns="0" rIns="0" tIns="0" bIns="0"/>
          <a:lstStyle/>
          <a:p>
            <a:pPr algn="ctr"/>
            <a:r>
              <a:rPr sz="1500" b="1" i="0">
                <a:solidFill>
                  <a:srgbClr val="FFFFFF"/>
                </a:solidFill>
                <a:latin typeface="Montserrat"/>
                <a:ea typeface="Montserrat"/>
                <a:cs typeface="Montserrat"/>
              </a:rPr>
              <a:t>THREAT</a:t>
            </a:r>
          </a:p>
        </p:txBody>
      </p:sp>
      <p:sp>
        <p:nvSpPr>
          <p:cNvPr id="120" name="TextBox 119"/>
          <p:cNvSpPr txBox="1"/>
          <p:nvPr/>
        </p:nvSpPr>
        <p:spPr>
          <a:xfrm>
            <a:off x="2560320" y="2724912"/>
            <a:ext cx="6309360" cy="1097280"/>
          </a:xfrm>
          <a:prstGeom prst="rect">
            <a:avLst/>
          </a:prstGeom>
          <a:noFill/>
        </p:spPr>
        <p:txBody>
          <a:bodyPr wrap="square" lIns="0" rIns="0" tIns="0" bIns="0" anchor="ctr">
            <a:spAutoFit/>
          </a:bodyPr>
          <a:lstStyle/>
          <a:p>
            <a:pPr algn="l"/>
            <a:r>
              <a:rPr sz="1700" b="0" i="0">
                <a:solidFill>
                  <a:srgbClr val="1D1D1F"/>
                </a:solidFill>
                <a:latin typeface="IBM Plex Sans"/>
                <a:ea typeface="IBM Plex Sans"/>
                <a:cs typeface="IBM Plex Sans"/>
              </a:rPr>
              <a:t>Tenant code turns the broker's reply write into an overwrite of the audit log, or hangs the broker.</a:t>
            </a:r>
          </a:p>
        </p:txBody>
      </p:sp>
      <p:sp>
        <p:nvSpPr>
          <p:cNvPr id="121" name="Rounded Rectangle 120"/>
          <p:cNvSpPr/>
          <p:nvPr/>
        </p:nvSpPr>
        <p:spPr>
          <a:xfrm>
            <a:off x="640080" y="3767328"/>
            <a:ext cx="1737360" cy="822960"/>
          </a:xfrm>
          <a:prstGeom prst="roundRect">
            <a:avLst>
              <a:gd name="adj" fmla="val 12000"/>
            </a:avLst>
          </a:prstGeom>
          <a:solidFill>
            <a:srgbClr val="13233A"/>
          </a:solidFill>
          <a:ln>
            <a:noFill/>
          </a:ln>
          <a:effectLst/>
        </p:spPr>
        <p:txBody>
          <a:bodyPr rtlCol="0" anchor="ctr" wrap="square" lIns="0" rIns="0" tIns="0" bIns="0"/>
          <a:lstStyle/>
          <a:p>
            <a:pPr algn="ctr"/>
            <a:r>
              <a:rPr sz="1500" b="1" i="0">
                <a:solidFill>
                  <a:srgbClr val="FFFFFF"/>
                </a:solidFill>
                <a:latin typeface="Montserrat"/>
                <a:ea typeface="Montserrat"/>
                <a:cs typeface="Montserrat"/>
              </a:rPr>
              <a:t>PROTECTED</a:t>
            </a:r>
          </a:p>
        </p:txBody>
      </p:sp>
      <p:sp>
        <p:nvSpPr>
          <p:cNvPr id="122" name="TextBox 121"/>
          <p:cNvSpPr txBox="1"/>
          <p:nvPr/>
        </p:nvSpPr>
        <p:spPr>
          <a:xfrm>
            <a:off x="2560320" y="3749040"/>
            <a:ext cx="6309360" cy="1097280"/>
          </a:xfrm>
          <a:prstGeom prst="rect">
            <a:avLst/>
          </a:prstGeom>
          <a:noFill/>
        </p:spPr>
        <p:txBody>
          <a:bodyPr wrap="square" lIns="0" rIns="0" tIns="0" bIns="0" anchor="ctr">
            <a:spAutoFit/>
          </a:bodyPr>
          <a:lstStyle/>
          <a:p>
            <a:pPr algn="l"/>
            <a:r>
              <a:rPr sz="1700" b="0" i="0">
                <a:solidFill>
                  <a:srgbClr val="1D1D1F"/>
                </a:solidFill>
                <a:latin typeface="IBM Plex Sans"/>
                <a:ea typeface="IBM Plex Sans"/>
                <a:cs typeface="IBM Plex Sans"/>
              </a:rPr>
              <a:t>audit.jsonl (the hash-chained run log) and the broker's availability.</a:t>
            </a:r>
          </a:p>
        </p:txBody>
      </p:sp>
      <p:sp>
        <p:nvSpPr>
          <p:cNvPr id="123" name="Rounded Rectangle 122"/>
          <p:cNvSpPr/>
          <p:nvPr/>
        </p:nvSpPr>
        <p:spPr>
          <a:xfrm>
            <a:off x="640080" y="4791456"/>
            <a:ext cx="1737360" cy="822960"/>
          </a:xfrm>
          <a:prstGeom prst="roundRect">
            <a:avLst>
              <a:gd name="adj" fmla="val 12000"/>
            </a:avLst>
          </a:prstGeom>
          <a:solidFill>
            <a:srgbClr val="E8772E"/>
          </a:solidFill>
          <a:ln>
            <a:noFill/>
          </a:ln>
          <a:effectLst/>
        </p:spPr>
        <p:txBody>
          <a:bodyPr rtlCol="0" anchor="ctr" wrap="square" lIns="0" rIns="0" tIns="0" bIns="0"/>
          <a:lstStyle/>
          <a:p>
            <a:pPr algn="ctr"/>
            <a:r>
              <a:rPr sz="1500" b="1" i="0">
                <a:solidFill>
                  <a:srgbClr val="FFFFFF"/>
                </a:solidFill>
                <a:latin typeface="Montserrat"/>
                <a:ea typeface="Montserrat"/>
                <a:cs typeface="Montserrat"/>
              </a:rPr>
              <a:t>ATTEMPT</a:t>
            </a:r>
          </a:p>
        </p:txBody>
      </p:sp>
      <p:sp>
        <p:nvSpPr>
          <p:cNvPr id="124" name="TextBox 123"/>
          <p:cNvSpPr txBox="1"/>
          <p:nvPr/>
        </p:nvSpPr>
        <p:spPr>
          <a:xfrm>
            <a:off x="2560320" y="4773168"/>
            <a:ext cx="6309360" cy="1097280"/>
          </a:xfrm>
          <a:prstGeom prst="rect">
            <a:avLst/>
          </a:prstGeom>
          <a:noFill/>
        </p:spPr>
        <p:txBody>
          <a:bodyPr wrap="square" lIns="0" rIns="0" tIns="0" bIns="0" anchor="ctr">
            <a:spAutoFit/>
          </a:bodyPr>
          <a:lstStyle/>
          <a:p>
            <a:pPr algn="l"/>
            <a:r>
              <a:rPr sz="1700" b="0" i="0">
                <a:solidFill>
                  <a:srgbClr val="1D1D1F"/>
                </a:solidFill>
                <a:latin typeface="IBM Plex Sans"/>
                <a:ea typeface="IBM Plex Sans"/>
                <a:cs typeface="IBM Plex Sans"/>
              </a:rPr>
              <a:t>Real rootless container, no network, read-only root: plant a symlink and a FIFO at guessed temp names; rename or remove the mailbox directory.</a:t>
            </a:r>
          </a:p>
        </p:txBody>
      </p:sp>
      <p:sp>
        <p:nvSpPr>
          <p:cNvPr id="125" name="Rounded Rectangle 124"/>
          <p:cNvSpPr/>
          <p:nvPr/>
        </p:nvSpPr>
        <p:spPr>
          <a:xfrm>
            <a:off x="640080" y="5815584"/>
            <a:ext cx="1737360" cy="822960"/>
          </a:xfrm>
          <a:prstGeom prst="roundRect">
            <a:avLst>
              <a:gd name="adj" fmla="val 12000"/>
            </a:avLst>
          </a:prstGeom>
          <a:solidFill>
            <a:srgbClr val="2E8B62"/>
          </a:solidFill>
          <a:ln>
            <a:noFill/>
          </a:ln>
          <a:effectLst/>
        </p:spPr>
        <p:txBody>
          <a:bodyPr rtlCol="0" anchor="ctr" wrap="square" lIns="0" rIns="0" tIns="0" bIns="0"/>
          <a:lstStyle/>
          <a:p>
            <a:pPr algn="ctr"/>
            <a:r>
              <a:rPr sz="1500" b="1" i="0">
                <a:solidFill>
                  <a:srgbClr val="FFFFFF"/>
                </a:solidFill>
                <a:latin typeface="Montserrat"/>
                <a:ea typeface="Montserrat"/>
                <a:cs typeface="Montserrat"/>
              </a:rPr>
              <a:t>RESULT</a:t>
            </a:r>
          </a:p>
        </p:txBody>
      </p:sp>
      <p:sp>
        <p:nvSpPr>
          <p:cNvPr id="126" name="TextBox 125"/>
          <p:cNvSpPr txBox="1"/>
          <p:nvPr/>
        </p:nvSpPr>
        <p:spPr>
          <a:xfrm>
            <a:off x="2560320" y="5797296"/>
            <a:ext cx="6309360" cy="1097280"/>
          </a:xfrm>
          <a:prstGeom prst="rect">
            <a:avLst/>
          </a:prstGeom>
          <a:noFill/>
        </p:spPr>
        <p:txBody>
          <a:bodyPr wrap="square" lIns="0" rIns="0" tIns="0" bIns="0" anchor="ctr">
            <a:spAutoFit/>
          </a:bodyPr>
          <a:lstStyle/>
          <a:p>
            <a:pPr algn="l"/>
            <a:r>
              <a:rPr sz="1700" b="0" i="0">
                <a:solidFill>
                  <a:srgbClr val="1D1D1F"/>
                </a:solidFill>
                <a:latin typeface="IBM Plex Sans"/>
                <a:ea typeface="IBM Plex Sans"/>
                <a:cs typeface="IBM Plex Sans"/>
              </a:rPr>
              <a:t>Planted entries ignored; replies delivered as regular files; victim file intact; nothing created outside; the broker never blocked.</a:t>
            </a:r>
          </a:p>
        </p:txBody>
      </p:sp>
      <p:sp>
        <p:nvSpPr>
          <p:cNvPr id="127" name="Rounded Rectangle 126"/>
          <p:cNvSpPr/>
          <p:nvPr/>
        </p:nvSpPr>
        <p:spPr>
          <a:xfrm>
            <a:off x="640080" y="6839712"/>
            <a:ext cx="1737360" cy="822960"/>
          </a:xfrm>
          <a:prstGeom prst="roundRect">
            <a:avLst>
              <a:gd name="adj" fmla="val 12000"/>
            </a:avLst>
          </a:prstGeom>
          <a:solidFill>
            <a:srgbClr val="2F6DB5"/>
          </a:solidFill>
          <a:ln>
            <a:noFill/>
          </a:ln>
          <a:effectLst/>
        </p:spPr>
        <p:txBody>
          <a:bodyPr rtlCol="0" anchor="ctr" wrap="square" lIns="0" rIns="0" tIns="0" bIns="0"/>
          <a:lstStyle/>
          <a:p>
            <a:pPr algn="ctr"/>
            <a:r>
              <a:rPr sz="1500" b="1" i="0">
                <a:solidFill>
                  <a:srgbClr val="FFFFFF"/>
                </a:solidFill>
                <a:latin typeface="Montserrat"/>
                <a:ea typeface="Montserrat"/>
                <a:cs typeface="Montserrat"/>
              </a:rPr>
              <a:t>TESTS</a:t>
            </a:r>
          </a:p>
        </p:txBody>
      </p:sp>
      <p:sp>
        <p:nvSpPr>
          <p:cNvPr id="128" name="TextBox 127"/>
          <p:cNvSpPr txBox="1"/>
          <p:nvPr/>
        </p:nvSpPr>
        <p:spPr>
          <a:xfrm>
            <a:off x="2560320" y="6821424"/>
            <a:ext cx="6309360" cy="1097280"/>
          </a:xfrm>
          <a:prstGeom prst="rect">
            <a:avLst/>
          </a:prstGeom>
          <a:noFill/>
        </p:spPr>
        <p:txBody>
          <a:bodyPr wrap="square" lIns="0" rIns="0" tIns="0" bIns="0" anchor="ctr">
            <a:spAutoFit/>
          </a:bodyPr>
          <a:lstStyle/>
          <a:p>
            <a:pPr algn="l"/>
            <a:r>
              <a:rPr sz="1700" b="0" i="0">
                <a:solidFill>
                  <a:srgbClr val="1D1D1F"/>
                </a:solidFill>
                <a:latin typeface="IBM Plex Sans"/>
                <a:ea typeface="IBM Plex Sans"/>
                <a:cs typeface="IBM Plex Sans"/>
              </a:rPr>
              <a:t>P2B01 · P2B03 · P2B05 · P2B32 · P2C01 · P2C02, all in the suite (345 passed).</a:t>
            </a:r>
          </a:p>
        </p:txBody>
      </p:sp>
      <p:sp>
        <p:nvSpPr>
          <p:cNvPr id="129" name="Rounded Rectangle 128"/>
          <p:cNvSpPr/>
          <p:nvPr/>
        </p:nvSpPr>
        <p:spPr>
          <a:xfrm>
            <a:off x="640080" y="8001000"/>
            <a:ext cx="8229600" cy="1600200"/>
          </a:xfrm>
          <a:prstGeom prst="roundRect">
            <a:avLst>
              <a:gd name="adj" fmla="val 6000"/>
            </a:avLst>
          </a:prstGeom>
          <a:solidFill>
            <a:srgbClr val="FFF1D6"/>
          </a:solidFill>
          <a:ln w="15875">
            <a:solidFill>
              <a:srgbClr val="9A6200"/>
            </a:solidFill>
          </a:ln>
          <a:effectLst/>
        </p:spPr>
        <p:txBody>
          <a:bodyPr rtlCol="0" anchor="ctr" wrap="square" lIns="164592" rIns="164592" tIns="164592" bIns="164592"/>
          <a:lstStyle/>
          <a:p>
            <a:pPr algn="l"/>
            <a:r>
              <a:rPr sz="1400" b="1" i="0">
                <a:solidFill>
                  <a:srgbClr val="9A6200"/>
                </a:solidFill>
                <a:latin typeface="Montserrat"/>
                <a:ea typeface="Montserrat"/>
                <a:cs typeface="Montserrat"/>
              </a:rPr>
              <a:t>HISTORICAL · before the fix  </a:t>
            </a:r>
          </a:p>
          <a:p>
            <a:pPr algn="l"/>
            <a:r>
              <a:rPr sz="1700" b="0" i="0">
                <a:solidFill>
                  <a:srgbClr val="1D1D1F"/>
                </a:solidFill>
                <a:latin typeface="IBM Plex Sans"/>
                <a:ea typeface="IBM Plex Sans"/>
                <a:cs typeface="IBM Plex Sans"/>
              </a:rPr>
              <a:t>The same attack on the Phase 1 broker made it overwrite the audit log: </a:t>
            </a:r>
            <a:r>
              <a:rPr sz="1700" b="1" i="0">
                <a:solidFill>
                  <a:srgbClr val="C2453B"/>
                </a:solidFill>
                <a:latin typeface="IBM Plex Sans"/>
                <a:ea typeface="IBM Plex Sans"/>
                <a:cs typeface="IBM Plex Sans"/>
              </a:rPr>
              <a:t>victim audit.jsonl intact: False</a:t>
            </a:r>
            <a:r>
              <a:rPr sz="1700" b="0" i="0">
                <a:solidFill>
                  <a:srgbClr val="1D1D1F"/>
                </a:solidFill>
                <a:latin typeface="IBM Plex Sans"/>
                <a:ea typeface="IBM Plex Sans"/>
                <a:cs typeface="IBM Plex Sans"/>
              </a:rPr>
              <a:t> (recorded 23 Oct, evidence/phase2_2026-10-23/before_fix/11_poc_mailbox.txt). Found by our own Phase 2 attack, then fixed.</a:t>
            </a:r>
          </a:p>
        </p:txBody>
      </p:sp>
      <p:pic>
        <p:nvPicPr>
          <p:cNvPr id="130" name="Picture 129" descr="term_mailbox.png"/>
          <p:cNvPicPr>
            <a:picLocks noChangeAspect="1"/>
          </p:cNvPicPr>
          <p:nvPr/>
        </p:nvPicPr>
        <p:blipFill>
          <a:blip r:embed="rId4"/>
          <a:stretch>
            <a:fillRect/>
          </a:stretch>
        </p:blipFill>
        <p:spPr>
          <a:xfrm>
            <a:off x="9966960" y="2743200"/>
            <a:ext cx="7680960" cy="5296915"/>
          </a:xfrm>
          <a:prstGeom prst="rect">
            <a:avLst/>
          </a:prstGeom>
          <a:ln w="15875">
            <a:solidFill>
              <a:srgbClr val="13233A"/>
            </a:solidFill>
          </a:ln>
        </p:spPr>
      </p:pic>
      <p:sp>
        <p:nvSpPr>
          <p:cNvPr id="131" name="TextBox 130"/>
          <p:cNvSpPr txBox="1"/>
          <p:nvPr/>
        </p:nvSpPr>
        <p:spPr>
          <a:xfrm>
            <a:off x="9966960" y="8131554"/>
            <a:ext cx="7680960" cy="640080"/>
          </a:xfrm>
          <a:prstGeom prst="rect">
            <a:avLst/>
          </a:prstGeom>
          <a:noFill/>
        </p:spPr>
        <p:txBody>
          <a:bodyPr wrap="square" lIns="0" rIns="0" tIns="0" bIns="0" anchor="t">
            <a:spAutoFit/>
          </a:bodyPr>
          <a:lstStyle/>
          <a:p>
            <a:pPr algn="l"/>
            <a:r>
              <a:rPr sz="1400" b="1" i="0">
                <a:solidFill>
                  <a:srgbClr val="2E8B62"/>
                </a:solidFill>
                <a:latin typeface="IBM Plex Sans"/>
                <a:ea typeface="IBM Plex Sans"/>
                <a:cs typeface="IBM Plex Sans"/>
              </a:rPr>
              <a:t>RECORDED </a:t>
            </a:r>
            <a:r>
              <a:rPr sz="1400" b="0" i="0">
                <a:solidFill>
                  <a:srgbClr val="5B6B7F"/>
                </a:solidFill>
                <a:latin typeface="IBM Plex Sans"/>
                <a:ea typeface="IBM Plex Sans"/>
                <a:cs typeface="IBM Plex Sans"/>
              </a:rPr>
              <a:t>live run of scripts/judge_demo.sh, step 3 · stub model · current code · 23 Oct 2026</a:t>
            </a:r>
          </a:p>
        </p:txBody>
      </p:sp>
      <p:sp>
        <p:nvSpPr>
          <p:cNvPr id="132" name="Rounded Rectangle 131"/>
          <p:cNvSpPr/>
          <p:nvPr/>
        </p:nvSpPr>
        <p:spPr>
          <a:xfrm>
            <a:off x="9966960" y="8771634"/>
            <a:ext cx="7680960" cy="868680"/>
          </a:xfrm>
          <a:prstGeom prst="roundRect">
            <a:avLst>
              <a:gd name="adj" fmla="val 8000"/>
            </a:avLst>
          </a:prstGeom>
          <a:solidFill>
            <a:srgbClr val="FFFFFF"/>
          </a:solidFill>
          <a:ln w="15875">
            <a:solidFill>
              <a:srgbClr val="C9D2DE"/>
            </a:solidFill>
          </a:ln>
          <a:effectLst/>
        </p:spPr>
        <p:txBody>
          <a:bodyPr rtlCol="0" anchor="ctr" wrap="square" lIns="137160" rIns="137160" tIns="137160" bIns="137160"/>
          <a:lstStyle/>
          <a:p>
            <a:pPr algn="l"/>
            <a:r>
              <a:rPr sz="1600" b="1" i="0">
                <a:solidFill>
                  <a:srgbClr val="13233A"/>
                </a:solidFill>
                <a:latin typeface="IBM Plex Sans"/>
                <a:ea typeface="IBM Plex Sans"/>
                <a:cs typeface="IBM Plex Sans"/>
              </a:rPr>
              <a:t>Also blocked: </a:t>
            </a:r>
            <a:r>
              <a:rPr sz="1600" b="0" i="0">
                <a:solidFill>
                  <a:srgbClr val="1D1D1F"/>
                </a:solidFill>
                <a:latin typeface="IBM Plex Sans"/>
                <a:ea typeface="IBM Plex Sans"/>
                <a:cs typeface="IBM Plex Sans"/>
              </a:rPr>
              <a:t>282 / 282 replayed model-generated release messages were denied by the gate (real-model run, E4).</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5" name="Google Shape;125;p17"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26" name="Section"/>
          <p:cNvSpPr txBox="1"/>
          <p:nvPr/>
        </p:nvSpPr>
        <p:spPr>
          <a:xfrm>
            <a:off x="640080" y="1417320"/>
            <a:ext cx="17007840" cy="384048"/>
          </a:xfrm>
          <a:prstGeom prst="rect">
            <a:avLst/>
          </a:prstGeom>
          <a:noFill/>
        </p:spPr>
        <p:txBody>
          <a:bodyPr wrap="square" lIns="0" rIns="0" tIns="0" bIns="0" anchor="t">
            <a:spAutoFit/>
          </a:bodyPr>
          <a:lstStyle/>
          <a:p>
            <a:pPr algn="l"/>
            <a:r>
              <a:rPr sz="2000" b="1" i="0">
                <a:solidFill>
                  <a:srgbClr val="E8772E"/>
                </a:solidFill>
                <a:latin typeface="Montserrat"/>
                <a:ea typeface="Montserrat"/>
                <a:cs typeface="Montserrat"/>
              </a:rPr>
              <a:t>REAL-MODEL EVIDENCE</a:t>
            </a:r>
          </a:p>
        </p:txBody>
      </p:sp>
      <p:sp>
        <p:nvSpPr>
          <p:cNvPr id="127" name="Title"/>
          <p:cNvSpPr txBox="1"/>
          <p:nvPr/>
        </p:nvSpPr>
        <p:spPr>
          <a:xfrm>
            <a:off x="640080" y="1810512"/>
            <a:ext cx="17007840" cy="731520"/>
          </a:xfrm>
          <a:prstGeom prst="rect">
            <a:avLst/>
          </a:prstGeom>
          <a:noFill/>
        </p:spPr>
        <p:txBody>
          <a:bodyPr wrap="square" lIns="0" rIns="0" tIns="0" bIns="0" anchor="t">
            <a:spAutoFit/>
          </a:bodyPr>
          <a:lstStyle/>
          <a:p>
            <a:pPr algn="l"/>
            <a:r>
              <a:rPr sz="3600" b="1" i="0">
                <a:solidFill>
                  <a:srgbClr val="1D1D1F"/>
                </a:solidFill>
                <a:latin typeface="Montserrat"/>
                <a:ea typeface="Montserrat"/>
                <a:cs typeface="Montserrat"/>
              </a:rPr>
              <a:t>Real model: no cross-session leak seen, and the controls show it could</a:t>
            </a:r>
          </a:p>
        </p:txBody>
      </p:sp>
      <p:sp>
        <p:nvSpPr>
          <p:cNvPr id="128" name="Rounded Rectangle 127"/>
          <p:cNvSpPr/>
          <p:nvPr/>
        </p:nvSpPr>
        <p:spPr>
          <a:xfrm>
            <a:off x="640080" y="2724912"/>
            <a:ext cx="3428999" cy="324104"/>
          </a:xfrm>
          <a:prstGeom prst="roundRect">
            <a:avLst>
              <a:gd name="adj" fmla="val 50000"/>
            </a:avLst>
          </a:prstGeom>
          <a:solidFill>
            <a:srgbClr val="13233A"/>
          </a:solidFill>
          <a:ln>
            <a:noFill/>
          </a:ln>
          <a:effectLst/>
        </p:spPr>
        <p:txBody>
          <a:bodyPr rtlCol="0" anchor="ctr" wrap="square" lIns="18288" rIns="18288" tIns="18288" bIns="18288"/>
          <a:lstStyle/>
          <a:p>
            <a:pPr algn="ctr"/>
            <a:r>
              <a:rPr sz="1400" b="1" i="0">
                <a:solidFill>
                  <a:srgbClr val="FFFFFF"/>
                </a:solidFill>
                <a:latin typeface="IBM Plex Sans"/>
                <a:ea typeface="IBM Plex Sans"/>
                <a:cs typeface="IBM Plex Sans"/>
              </a:rPr>
              <a:t>REAL MODEL · NOT THE STUB</a:t>
            </a:r>
          </a:p>
        </p:txBody>
      </p:sp>
      <p:sp>
        <p:nvSpPr>
          <p:cNvPr id="129" name="TextBox 128"/>
          <p:cNvSpPr txBox="1"/>
          <p:nvPr/>
        </p:nvSpPr>
        <p:spPr>
          <a:xfrm>
            <a:off x="4343400" y="2697480"/>
            <a:ext cx="7315200" cy="411480"/>
          </a:xfrm>
          <a:prstGeom prst="rect">
            <a:avLst/>
          </a:prstGeom>
          <a:noFill/>
        </p:spPr>
        <p:txBody>
          <a:bodyPr wrap="square" lIns="0" rIns="0" tIns="0" bIns="0" anchor="ctr">
            <a:spAutoFit/>
          </a:bodyPr>
          <a:lstStyle/>
          <a:p>
            <a:pPr algn="l"/>
            <a:r>
              <a:rPr sz="1600" b="0" i="0">
                <a:solidFill>
                  <a:srgbClr val="5B6B7F"/>
                </a:solidFill>
                <a:latin typeface="IBM Plex Sans"/>
                <a:ea typeface="IBM Plex Sans"/>
                <a:cs typeface="IBM Plex Sans"/>
              </a:rPr>
              <a:t>Qwen2.5-0.5B Q4_K_M · llama.cpp on CPU · loopback only</a:t>
            </a:r>
          </a:p>
        </p:txBody>
      </p:sp>
      <p:sp>
        <p:nvSpPr>
          <p:cNvPr id="130" name="TextBox 129"/>
          <p:cNvSpPr txBox="1"/>
          <p:nvPr/>
        </p:nvSpPr>
        <p:spPr>
          <a:xfrm>
            <a:off x="640080" y="3200400"/>
            <a:ext cx="11155680" cy="365760"/>
          </a:xfrm>
          <a:prstGeom prst="rect">
            <a:avLst/>
          </a:prstGeom>
          <a:noFill/>
        </p:spPr>
        <p:txBody>
          <a:bodyPr wrap="square" lIns="0" rIns="0" tIns="0" bIns="0" anchor="t">
            <a:spAutoFit/>
          </a:bodyPr>
          <a:lstStyle/>
          <a:p>
            <a:pPr algn="l"/>
            <a:r>
              <a:rPr sz="1500" b="1" i="0">
                <a:solidFill>
                  <a:srgbClr val="13233A"/>
                </a:solidFill>
                <a:latin typeface="Montserrat"/>
                <a:ea typeface="Montserrat"/>
                <a:cs typeface="Montserrat"/>
              </a:rPr>
              <a:t>A · DIRECT ADAPTER  (16 sessions per cell, 10 probe wordings per session)</a:t>
            </a:r>
          </a:p>
        </p:txBody>
      </p:sp>
      <p:sp>
        <p:nvSpPr>
          <p:cNvPr id="131" name="TextBox 130"/>
          <p:cNvSpPr txBox="1"/>
          <p:nvPr/>
        </p:nvSpPr>
        <p:spPr>
          <a:xfrm>
            <a:off x="640080" y="3611880"/>
            <a:ext cx="11155680" cy="329184"/>
          </a:xfrm>
          <a:prstGeom prst="rect">
            <a:avLst/>
          </a:prstGeom>
          <a:noFill/>
        </p:spPr>
        <p:txBody>
          <a:bodyPr wrap="square" lIns="0" rIns="0" tIns="0" bIns="0" anchor="t">
            <a:spAutoFit/>
          </a:bodyPr>
          <a:lstStyle/>
          <a:p>
            <a:pPr algn="l"/>
            <a:r>
              <a:rPr sz="1700" b="1" i="0">
                <a:solidFill>
                  <a:srgbClr val="1D1D1F"/>
                </a:solidFill>
                <a:latin typeface="IBM Plex Sans"/>
                <a:ea typeface="IBM Plex Sans"/>
                <a:cs typeface="IBM Plex Sans"/>
              </a:rPr>
              <a:t>Isolation: 7 cells, fresh and reused server, cache on and off</a:t>
            </a:r>
          </a:p>
        </p:txBody>
      </p:sp>
      <p:sp>
        <p:nvSpPr>
          <p:cNvPr id="132" name="Rectangle 131"/>
          <p:cNvSpPr/>
          <p:nvPr/>
        </p:nvSpPr>
        <p:spPr>
          <a:xfrm>
            <a:off x="640080" y="3977640"/>
            <a:ext cx="9144000" cy="292608"/>
          </a:xfrm>
          <a:prstGeom prst="rect">
            <a:avLst/>
          </a:prstGeom>
          <a:solidFill>
            <a:srgbClr val="EEF1F5"/>
          </a:solidFill>
          <a:ln>
            <a:noFill/>
          </a:ln>
          <a:effectLst/>
        </p:spPr>
        <p:txBody>
          <a:bodyPr rtlCol="0" anchor="t" wrap="square" lIns="0" rIns="0" tIns="0" bIns="0"/>
          <a:lstStyle/>
          <a:p>
            <a:pPr algn="l"/>
            <a:r>
              <a:rPr sz="2000" b="0" i="0">
                <a:solidFill>
                  <a:srgbClr val="1D1D1F"/>
                </a:solidFill>
                <a:latin typeface="IBM Plex Sans"/>
                <a:ea typeface="IBM Plex Sans"/>
                <a:cs typeface="IBM Plex Sans"/>
              </a:rPr>
              <a:t/>
            </a:r>
          </a:p>
        </p:txBody>
      </p:sp>
      <p:sp>
        <p:nvSpPr>
          <p:cNvPr id="133" name="TextBox 132"/>
          <p:cNvSpPr txBox="1"/>
          <p:nvPr/>
        </p:nvSpPr>
        <p:spPr>
          <a:xfrm>
            <a:off x="9921240" y="3886200"/>
            <a:ext cx="1920240" cy="457200"/>
          </a:xfrm>
          <a:prstGeom prst="rect">
            <a:avLst/>
          </a:prstGeom>
          <a:noFill/>
        </p:spPr>
        <p:txBody>
          <a:bodyPr wrap="square" lIns="0" rIns="0" tIns="0" bIns="0" anchor="ctr">
            <a:spAutoFit/>
          </a:bodyPr>
          <a:lstStyle/>
          <a:p>
            <a:pPr algn="l"/>
            <a:r>
              <a:rPr sz="2400" b="1" i="0">
                <a:solidFill>
                  <a:srgbClr val="2E8B62"/>
                </a:solidFill>
                <a:latin typeface="Montserrat"/>
                <a:ea typeface="Montserrat"/>
                <a:cs typeface="Montserrat"/>
              </a:rPr>
              <a:t>0 / 104</a:t>
            </a:r>
          </a:p>
        </p:txBody>
      </p:sp>
      <p:sp>
        <p:nvSpPr>
          <p:cNvPr id="134" name="TextBox 133"/>
          <p:cNvSpPr txBox="1"/>
          <p:nvPr/>
        </p:nvSpPr>
        <p:spPr>
          <a:xfrm>
            <a:off x="640080" y="4306824"/>
            <a:ext cx="11155680" cy="274320"/>
          </a:xfrm>
          <a:prstGeom prst="rect">
            <a:avLst/>
          </a:prstGeom>
          <a:noFill/>
        </p:spPr>
        <p:txBody>
          <a:bodyPr wrap="square" lIns="0" rIns="0" tIns="0" bIns="0" anchor="t">
            <a:spAutoFit/>
          </a:bodyPr>
          <a:lstStyle/>
          <a:p>
            <a:pPr algn="l"/>
            <a:r>
              <a:rPr sz="1400" b="0" i="0">
                <a:solidFill>
                  <a:srgbClr val="5B6B7F"/>
                </a:solidFill>
                <a:latin typeface="IBM Plex Sans"/>
                <a:ea typeface="IBM Plex Sans"/>
                <a:cs typeface="IBM Plex Sans"/>
              </a:rPr>
              <a:t>sessions that recovered another session's canary · 1,040 trials</a:t>
            </a:r>
          </a:p>
        </p:txBody>
      </p:sp>
      <p:sp>
        <p:nvSpPr>
          <p:cNvPr id="135" name="TextBox 134"/>
          <p:cNvSpPr txBox="1"/>
          <p:nvPr/>
        </p:nvSpPr>
        <p:spPr>
          <a:xfrm>
            <a:off x="640080" y="4599432"/>
            <a:ext cx="11155680" cy="329184"/>
          </a:xfrm>
          <a:prstGeom prst="rect">
            <a:avLst/>
          </a:prstGeom>
          <a:noFill/>
        </p:spPr>
        <p:txBody>
          <a:bodyPr wrap="square" lIns="0" rIns="0" tIns="0" bIns="0" anchor="t">
            <a:spAutoFit/>
          </a:bodyPr>
          <a:lstStyle/>
          <a:p>
            <a:pPr algn="l"/>
            <a:r>
              <a:rPr sz="1700" b="1" i="0">
                <a:solidFill>
                  <a:srgbClr val="1D1D1F"/>
                </a:solidFill>
                <a:latin typeface="IBM Plex Sans"/>
                <a:ea typeface="IBM Plex Sans"/>
                <a:cs typeface="IBM Plex Sans"/>
              </a:rPr>
              <a:t>Negative control: nothing planted</a:t>
            </a:r>
          </a:p>
        </p:txBody>
      </p:sp>
      <p:sp>
        <p:nvSpPr>
          <p:cNvPr id="136" name="Rectangle 135"/>
          <p:cNvSpPr/>
          <p:nvPr/>
        </p:nvSpPr>
        <p:spPr>
          <a:xfrm>
            <a:off x="640080" y="4965192"/>
            <a:ext cx="9144000" cy="292608"/>
          </a:xfrm>
          <a:prstGeom prst="rect">
            <a:avLst/>
          </a:prstGeom>
          <a:solidFill>
            <a:srgbClr val="EEF1F5"/>
          </a:solidFill>
          <a:ln>
            <a:noFill/>
          </a:ln>
          <a:effectLst/>
        </p:spPr>
        <p:txBody>
          <a:bodyPr rtlCol="0" anchor="t" wrap="square" lIns="0" rIns="0" tIns="0" bIns="0"/>
          <a:lstStyle/>
          <a:p>
            <a:pPr algn="l"/>
            <a:r>
              <a:rPr sz="2000" b="0" i="0">
                <a:solidFill>
                  <a:srgbClr val="1D1D1F"/>
                </a:solidFill>
                <a:latin typeface="IBM Plex Sans"/>
                <a:ea typeface="IBM Plex Sans"/>
                <a:cs typeface="IBM Plex Sans"/>
              </a:rPr>
              <a:t/>
            </a:r>
          </a:p>
        </p:txBody>
      </p:sp>
      <p:sp>
        <p:nvSpPr>
          <p:cNvPr id="137" name="TextBox 136"/>
          <p:cNvSpPr txBox="1"/>
          <p:nvPr/>
        </p:nvSpPr>
        <p:spPr>
          <a:xfrm>
            <a:off x="9921240" y="4873752"/>
            <a:ext cx="1920240" cy="457200"/>
          </a:xfrm>
          <a:prstGeom prst="rect">
            <a:avLst/>
          </a:prstGeom>
          <a:noFill/>
        </p:spPr>
        <p:txBody>
          <a:bodyPr wrap="square" lIns="0" rIns="0" tIns="0" bIns="0" anchor="ctr">
            <a:spAutoFit/>
          </a:bodyPr>
          <a:lstStyle/>
          <a:p>
            <a:pPr algn="l"/>
            <a:r>
              <a:rPr sz="2400" b="1" i="0">
                <a:solidFill>
                  <a:srgbClr val="2E8B62"/>
                </a:solidFill>
                <a:latin typeface="Montserrat"/>
                <a:ea typeface="Montserrat"/>
                <a:cs typeface="Montserrat"/>
              </a:rPr>
              <a:t>0 / 32</a:t>
            </a:r>
          </a:p>
        </p:txBody>
      </p:sp>
      <p:sp>
        <p:nvSpPr>
          <p:cNvPr id="138" name="TextBox 137"/>
          <p:cNvSpPr txBox="1"/>
          <p:nvPr/>
        </p:nvSpPr>
        <p:spPr>
          <a:xfrm>
            <a:off x="640080" y="5294376"/>
            <a:ext cx="11155680" cy="274320"/>
          </a:xfrm>
          <a:prstGeom prst="rect">
            <a:avLst/>
          </a:prstGeom>
          <a:noFill/>
        </p:spPr>
        <p:txBody>
          <a:bodyPr wrap="square" lIns="0" rIns="0" tIns="0" bIns="0" anchor="t">
            <a:spAutoFit/>
          </a:bodyPr>
          <a:lstStyle/>
          <a:p>
            <a:pPr algn="l"/>
            <a:r>
              <a:rPr sz="1400" b="0" i="0">
                <a:solidFill>
                  <a:srgbClr val="5B6B7F"/>
                </a:solidFill>
                <a:latin typeface="IBM Plex Sans"/>
                <a:ea typeface="IBM Plex Sans"/>
                <a:cs typeface="IBM Plex Sans"/>
              </a:rPr>
              <a:t>320 trials</a:t>
            </a:r>
          </a:p>
        </p:txBody>
      </p:sp>
      <p:sp>
        <p:nvSpPr>
          <p:cNvPr id="139" name="TextBox 138"/>
          <p:cNvSpPr txBox="1"/>
          <p:nvPr/>
        </p:nvSpPr>
        <p:spPr>
          <a:xfrm>
            <a:off x="640080" y="5586984"/>
            <a:ext cx="11155680" cy="329184"/>
          </a:xfrm>
          <a:prstGeom prst="rect">
            <a:avLst/>
          </a:prstGeom>
          <a:noFill/>
        </p:spPr>
        <p:txBody>
          <a:bodyPr wrap="square" lIns="0" rIns="0" tIns="0" bIns="0" anchor="t">
            <a:spAutoFit/>
          </a:bodyPr>
          <a:lstStyle/>
          <a:p>
            <a:pPr algn="l"/>
            <a:r>
              <a:rPr sz="1700" b="1" i="0">
                <a:solidFill>
                  <a:srgbClr val="1D1D1F"/>
                </a:solidFill>
                <a:latin typeface="IBM Plex Sans"/>
                <a:ea typeface="IBM Plex Sans"/>
                <a:cs typeface="IBM Plex Sans"/>
              </a:rPr>
              <a:t>Positive control: history shared on purpose</a:t>
            </a:r>
          </a:p>
        </p:txBody>
      </p:sp>
      <p:sp>
        <p:nvSpPr>
          <p:cNvPr id="140" name="Rectangle 139"/>
          <p:cNvSpPr/>
          <p:nvPr/>
        </p:nvSpPr>
        <p:spPr>
          <a:xfrm>
            <a:off x="640080" y="5952744"/>
            <a:ext cx="9144000" cy="292608"/>
          </a:xfrm>
          <a:prstGeom prst="rect">
            <a:avLst/>
          </a:prstGeom>
          <a:solidFill>
            <a:srgbClr val="EEF1F5"/>
          </a:solidFill>
          <a:ln>
            <a:noFill/>
          </a:ln>
          <a:effectLst/>
        </p:spPr>
        <p:txBody>
          <a:bodyPr rtlCol="0" anchor="t" wrap="square" lIns="0" rIns="0" tIns="0" bIns="0"/>
          <a:lstStyle/>
          <a:p>
            <a:pPr algn="l"/>
            <a:r>
              <a:rPr sz="2000" b="0" i="0">
                <a:solidFill>
                  <a:srgbClr val="1D1D1F"/>
                </a:solidFill>
                <a:latin typeface="IBM Plex Sans"/>
                <a:ea typeface="IBM Plex Sans"/>
                <a:cs typeface="IBM Plex Sans"/>
              </a:rPr>
              <a:t/>
            </a:r>
          </a:p>
        </p:txBody>
      </p:sp>
      <p:sp>
        <p:nvSpPr>
          <p:cNvPr id="141" name="Rectangle 140"/>
          <p:cNvSpPr/>
          <p:nvPr/>
        </p:nvSpPr>
        <p:spPr>
          <a:xfrm>
            <a:off x="640080" y="5952744"/>
            <a:ext cx="9144000" cy="292608"/>
          </a:xfrm>
          <a:prstGeom prst="rect">
            <a:avLst/>
          </a:prstGeom>
          <a:solidFill>
            <a:srgbClr val="E8772E"/>
          </a:solidFill>
          <a:ln>
            <a:noFill/>
          </a:ln>
          <a:effectLst/>
        </p:spPr>
        <p:txBody>
          <a:bodyPr rtlCol="0" anchor="t" wrap="square" lIns="0" rIns="0" tIns="0" bIns="0"/>
          <a:lstStyle/>
          <a:p>
            <a:pPr algn="l"/>
            <a:r>
              <a:rPr sz="2000" b="0" i="0">
                <a:solidFill>
                  <a:srgbClr val="1D1D1F"/>
                </a:solidFill>
                <a:latin typeface="IBM Plex Sans"/>
                <a:ea typeface="IBM Plex Sans"/>
                <a:cs typeface="IBM Plex Sans"/>
              </a:rPr>
              <a:t/>
            </a:r>
          </a:p>
        </p:txBody>
      </p:sp>
      <p:sp>
        <p:nvSpPr>
          <p:cNvPr id="142" name="TextBox 141"/>
          <p:cNvSpPr txBox="1"/>
          <p:nvPr/>
        </p:nvSpPr>
        <p:spPr>
          <a:xfrm>
            <a:off x="9921240" y="5861304"/>
            <a:ext cx="1920240" cy="457200"/>
          </a:xfrm>
          <a:prstGeom prst="rect">
            <a:avLst/>
          </a:prstGeom>
          <a:noFill/>
        </p:spPr>
        <p:txBody>
          <a:bodyPr wrap="square" lIns="0" rIns="0" tIns="0" bIns="0" anchor="ctr">
            <a:spAutoFit/>
          </a:bodyPr>
          <a:lstStyle/>
          <a:p>
            <a:pPr algn="l"/>
            <a:r>
              <a:rPr sz="2400" b="1" i="0">
                <a:solidFill>
                  <a:srgbClr val="E8772E"/>
                </a:solidFill>
                <a:latin typeface="Montserrat"/>
                <a:ea typeface="Montserrat"/>
                <a:cs typeface="Montserrat"/>
              </a:rPr>
              <a:t>16 / 16</a:t>
            </a:r>
          </a:p>
        </p:txBody>
      </p:sp>
      <p:sp>
        <p:nvSpPr>
          <p:cNvPr id="143" name="TextBox 142"/>
          <p:cNvSpPr txBox="1"/>
          <p:nvPr/>
        </p:nvSpPr>
        <p:spPr>
          <a:xfrm>
            <a:off x="640080" y="6281928"/>
            <a:ext cx="11155680" cy="274320"/>
          </a:xfrm>
          <a:prstGeom prst="rect">
            <a:avLst/>
          </a:prstGeom>
          <a:noFill/>
        </p:spPr>
        <p:txBody>
          <a:bodyPr wrap="square" lIns="0" rIns="0" tIns="0" bIns="0" anchor="t">
            <a:spAutoFit/>
          </a:bodyPr>
          <a:lstStyle/>
          <a:p>
            <a:pPr algn="l"/>
            <a:r>
              <a:rPr sz="1400" b="0" i="0">
                <a:solidFill>
                  <a:srgbClr val="5B6B7F"/>
                </a:solidFill>
                <a:latin typeface="IBM Plex Sans"/>
                <a:ea typeface="IBM Plex Sans"/>
                <a:cs typeface="IBM Plex Sans"/>
              </a:rPr>
              <a:t>106 of 160 trials leaked</a:t>
            </a:r>
          </a:p>
        </p:txBody>
      </p:sp>
      <p:sp>
        <p:nvSpPr>
          <p:cNvPr id="144" name="TextBox 143"/>
          <p:cNvSpPr txBox="1"/>
          <p:nvPr/>
        </p:nvSpPr>
        <p:spPr>
          <a:xfrm>
            <a:off x="7955279" y="5568696"/>
            <a:ext cx="1828800" cy="329184"/>
          </a:xfrm>
          <a:prstGeom prst="rect">
            <a:avLst/>
          </a:prstGeom>
          <a:noFill/>
        </p:spPr>
        <p:txBody>
          <a:bodyPr wrap="square" lIns="0" rIns="0" tIns="0" bIns="0" anchor="ctr">
            <a:spAutoFit/>
          </a:bodyPr>
          <a:lstStyle/>
          <a:p>
            <a:pPr algn="r"/>
            <a:r>
              <a:rPr sz="1300" b="1" i="0">
                <a:solidFill>
                  <a:srgbClr val="E8772E"/>
                </a:solidFill>
                <a:latin typeface="IBM Plex Sans"/>
                <a:ea typeface="IBM Plex Sans"/>
                <a:cs typeface="IBM Plex Sans"/>
              </a:rPr>
              <a:t>MUST LEAK</a:t>
            </a:r>
          </a:p>
        </p:txBody>
      </p:sp>
      <p:sp>
        <p:nvSpPr>
          <p:cNvPr id="145" name="TextBox 144"/>
          <p:cNvSpPr txBox="1"/>
          <p:nvPr/>
        </p:nvSpPr>
        <p:spPr>
          <a:xfrm>
            <a:off x="640080" y="6574536"/>
            <a:ext cx="11155680" cy="329184"/>
          </a:xfrm>
          <a:prstGeom prst="rect">
            <a:avLst/>
          </a:prstGeom>
          <a:noFill/>
        </p:spPr>
        <p:txBody>
          <a:bodyPr wrap="square" lIns="0" rIns="0" tIns="0" bIns="0" anchor="t">
            <a:spAutoFit/>
          </a:bodyPr>
          <a:lstStyle/>
          <a:p>
            <a:pPr algn="l"/>
            <a:r>
              <a:rPr sz="1700" b="1" i="0">
                <a:solidFill>
                  <a:srgbClr val="1D1D1F"/>
                </a:solidFill>
                <a:latin typeface="IBM Plex Sans"/>
                <a:ea typeface="IBM Plex Sans"/>
                <a:cs typeface="IBM Plex Sans"/>
              </a:rPr>
              <a:t>Positive control: context-sharing gateway</a:t>
            </a:r>
          </a:p>
        </p:txBody>
      </p:sp>
      <p:sp>
        <p:nvSpPr>
          <p:cNvPr id="146" name="Rectangle 145"/>
          <p:cNvSpPr/>
          <p:nvPr/>
        </p:nvSpPr>
        <p:spPr>
          <a:xfrm>
            <a:off x="640080" y="6940296"/>
            <a:ext cx="9144000" cy="292608"/>
          </a:xfrm>
          <a:prstGeom prst="rect">
            <a:avLst/>
          </a:prstGeom>
          <a:solidFill>
            <a:srgbClr val="EEF1F5"/>
          </a:solidFill>
          <a:ln>
            <a:noFill/>
          </a:ln>
          <a:effectLst/>
        </p:spPr>
        <p:txBody>
          <a:bodyPr rtlCol="0" anchor="t" wrap="square" lIns="0" rIns="0" tIns="0" bIns="0"/>
          <a:lstStyle/>
          <a:p>
            <a:pPr algn="l"/>
            <a:r>
              <a:rPr sz="2000" b="0" i="0">
                <a:solidFill>
                  <a:srgbClr val="1D1D1F"/>
                </a:solidFill>
                <a:latin typeface="IBM Plex Sans"/>
                <a:ea typeface="IBM Plex Sans"/>
                <a:cs typeface="IBM Plex Sans"/>
              </a:rPr>
              <a:t/>
            </a:r>
          </a:p>
        </p:txBody>
      </p:sp>
      <p:sp>
        <p:nvSpPr>
          <p:cNvPr id="147" name="Rectangle 146"/>
          <p:cNvSpPr/>
          <p:nvPr/>
        </p:nvSpPr>
        <p:spPr>
          <a:xfrm>
            <a:off x="640080" y="6940296"/>
            <a:ext cx="7429500" cy="292608"/>
          </a:xfrm>
          <a:prstGeom prst="rect">
            <a:avLst/>
          </a:prstGeom>
          <a:solidFill>
            <a:srgbClr val="E8772E"/>
          </a:solidFill>
          <a:ln>
            <a:noFill/>
          </a:ln>
          <a:effectLst/>
        </p:spPr>
        <p:txBody>
          <a:bodyPr rtlCol="0" anchor="t" wrap="square" lIns="0" rIns="0" tIns="0" bIns="0"/>
          <a:lstStyle/>
          <a:p>
            <a:pPr algn="l"/>
            <a:r>
              <a:rPr sz="2000" b="0" i="0">
                <a:solidFill>
                  <a:srgbClr val="1D1D1F"/>
                </a:solidFill>
                <a:latin typeface="IBM Plex Sans"/>
                <a:ea typeface="IBM Plex Sans"/>
                <a:cs typeface="IBM Plex Sans"/>
              </a:rPr>
              <a:t/>
            </a:r>
          </a:p>
        </p:txBody>
      </p:sp>
      <p:sp>
        <p:nvSpPr>
          <p:cNvPr id="148" name="TextBox 147"/>
          <p:cNvSpPr txBox="1"/>
          <p:nvPr/>
        </p:nvSpPr>
        <p:spPr>
          <a:xfrm>
            <a:off x="9921240" y="6848856"/>
            <a:ext cx="1920240" cy="457200"/>
          </a:xfrm>
          <a:prstGeom prst="rect">
            <a:avLst/>
          </a:prstGeom>
          <a:noFill/>
        </p:spPr>
        <p:txBody>
          <a:bodyPr wrap="square" lIns="0" rIns="0" tIns="0" bIns="0" anchor="ctr">
            <a:spAutoFit/>
          </a:bodyPr>
          <a:lstStyle/>
          <a:p>
            <a:pPr algn="l"/>
            <a:r>
              <a:rPr sz="2400" b="1" i="0">
                <a:solidFill>
                  <a:srgbClr val="E8772E"/>
                </a:solidFill>
                <a:latin typeface="Montserrat"/>
                <a:ea typeface="Montserrat"/>
                <a:cs typeface="Montserrat"/>
              </a:rPr>
              <a:t>13 / 16</a:t>
            </a:r>
          </a:p>
        </p:txBody>
      </p:sp>
      <p:sp>
        <p:nvSpPr>
          <p:cNvPr id="149" name="TextBox 148"/>
          <p:cNvSpPr txBox="1"/>
          <p:nvPr/>
        </p:nvSpPr>
        <p:spPr>
          <a:xfrm>
            <a:off x="640080" y="7269480"/>
            <a:ext cx="11155680" cy="274320"/>
          </a:xfrm>
          <a:prstGeom prst="rect">
            <a:avLst/>
          </a:prstGeom>
          <a:noFill/>
        </p:spPr>
        <p:txBody>
          <a:bodyPr wrap="square" lIns="0" rIns="0" tIns="0" bIns="0" anchor="t">
            <a:spAutoFit/>
          </a:bodyPr>
          <a:lstStyle/>
          <a:p>
            <a:pPr algn="l"/>
            <a:r>
              <a:rPr sz="1400" b="0" i="0">
                <a:solidFill>
                  <a:srgbClr val="5B6B7F"/>
                </a:solidFill>
                <a:latin typeface="IBM Plex Sans"/>
                <a:ea typeface="IBM Plex Sans"/>
                <a:cs typeface="IBM Plex Sans"/>
              </a:rPr>
              <a:t>60 of 160 trials leaked; the first session cannot leak by construction</a:t>
            </a:r>
          </a:p>
        </p:txBody>
      </p:sp>
      <p:sp>
        <p:nvSpPr>
          <p:cNvPr id="150" name="TextBox 149"/>
          <p:cNvSpPr txBox="1"/>
          <p:nvPr/>
        </p:nvSpPr>
        <p:spPr>
          <a:xfrm>
            <a:off x="7955279" y="6556248"/>
            <a:ext cx="1828800" cy="329184"/>
          </a:xfrm>
          <a:prstGeom prst="rect">
            <a:avLst/>
          </a:prstGeom>
          <a:noFill/>
        </p:spPr>
        <p:txBody>
          <a:bodyPr wrap="square" lIns="0" rIns="0" tIns="0" bIns="0" anchor="ctr">
            <a:spAutoFit/>
          </a:bodyPr>
          <a:lstStyle/>
          <a:p>
            <a:pPr algn="r"/>
            <a:r>
              <a:rPr sz="1300" b="1" i="0">
                <a:solidFill>
                  <a:srgbClr val="E8772E"/>
                </a:solidFill>
                <a:latin typeface="IBM Plex Sans"/>
                <a:ea typeface="IBM Plex Sans"/>
                <a:cs typeface="IBM Plex Sans"/>
              </a:rPr>
              <a:t>MUST LEAK</a:t>
            </a:r>
          </a:p>
        </p:txBody>
      </p:sp>
      <p:sp>
        <p:nvSpPr>
          <p:cNvPr id="151" name="TextBox 150"/>
          <p:cNvSpPr txBox="1"/>
          <p:nvPr/>
        </p:nvSpPr>
        <p:spPr>
          <a:xfrm>
            <a:off x="640080" y="7772400"/>
            <a:ext cx="11155680" cy="365760"/>
          </a:xfrm>
          <a:prstGeom prst="rect">
            <a:avLst/>
          </a:prstGeom>
          <a:noFill/>
        </p:spPr>
        <p:txBody>
          <a:bodyPr wrap="square" lIns="0" rIns="0" tIns="0" bIns="0" anchor="t">
            <a:spAutoFit/>
          </a:bodyPr>
          <a:lstStyle/>
          <a:p>
            <a:pPr algn="l"/>
            <a:r>
              <a:rPr sz="1500" b="1" i="0">
                <a:solidFill>
                  <a:srgbClr val="13233A"/>
                </a:solidFill>
                <a:latin typeface="Montserrat"/>
                <a:ea typeface="Montserrat"/>
                <a:cs typeface="Montserrat"/>
              </a:rPr>
              <a:t>B · FULL PIPELINE  (broker + rootless sandboxes + real model, 12 attacks per run)</a:t>
            </a:r>
          </a:p>
        </p:txBody>
      </p:sp>
      <p:sp>
        <p:nvSpPr>
          <p:cNvPr id="152" name="Rounded Rectangle 151"/>
          <p:cNvSpPr/>
          <p:nvPr/>
        </p:nvSpPr>
        <p:spPr>
          <a:xfrm>
            <a:off x="640080" y="8229600"/>
            <a:ext cx="3611880" cy="1463040"/>
          </a:xfrm>
          <a:prstGeom prst="roundRect">
            <a:avLst>
              <a:gd name="adj" fmla="val 8000"/>
            </a:avLst>
          </a:prstGeom>
          <a:solidFill>
            <a:srgbClr val="FFFFFF"/>
          </a:solidFill>
          <a:ln w="15875">
            <a:solidFill>
              <a:srgbClr val="2E8B62"/>
            </a:solidFill>
          </a:ln>
          <a:effectLst/>
        </p:spPr>
        <p:txBody>
          <a:bodyPr rtlCol="0" anchor="ctr" wrap="square" lIns="128016" rIns="128016" tIns="128016" bIns="128016"/>
          <a:lstStyle/>
          <a:p>
            <a:pPr algn="l"/>
            <a:r>
              <a:rPr sz="1600" b="1" i="0">
                <a:solidFill>
                  <a:srgbClr val="1D1D1F"/>
                </a:solidFill>
                <a:latin typeface="IBM Plex Sans"/>
                <a:ea typeface="IBM Plex Sans"/>
                <a:cs typeface="IBM Plex Sans"/>
              </a:rPr>
              <a:t>Isolation runs</a:t>
            </a:r>
          </a:p>
          <a:p>
            <a:pPr algn="l"/>
            <a:r>
              <a:rPr sz="2600" b="1" i="0">
                <a:solidFill>
                  <a:srgbClr val="2E8B62"/>
                </a:solidFill>
                <a:latin typeface="Montserrat"/>
                <a:ea typeface="Montserrat"/>
                <a:cs typeface="Montserrat"/>
              </a:rPr>
              <a:t>0 / 26 runs</a:t>
            </a:r>
          </a:p>
          <a:p>
            <a:pPr algn="l"/>
            <a:r>
              <a:rPr sz="1300" b="0" i="0">
                <a:solidFill>
                  <a:srgbClr val="5B6B7F"/>
                </a:solidFill>
                <a:latin typeface="IBM Plex Sans"/>
                <a:ea typeface="IBM Plex Sans"/>
                <a:cs typeface="IBM Plex Sans"/>
              </a:rPr>
              <a:t>foreign canary in raw model output · 312 attacks</a:t>
            </a:r>
          </a:p>
        </p:txBody>
      </p:sp>
      <p:sp>
        <p:nvSpPr>
          <p:cNvPr id="153" name="Rounded Rectangle 152"/>
          <p:cNvSpPr/>
          <p:nvPr/>
        </p:nvSpPr>
        <p:spPr>
          <a:xfrm>
            <a:off x="4407408" y="8229600"/>
            <a:ext cx="3611880" cy="1463040"/>
          </a:xfrm>
          <a:prstGeom prst="roundRect">
            <a:avLst>
              <a:gd name="adj" fmla="val 8000"/>
            </a:avLst>
          </a:prstGeom>
          <a:solidFill>
            <a:srgbClr val="FFFFFF"/>
          </a:solidFill>
          <a:ln w="15875">
            <a:solidFill>
              <a:srgbClr val="2E8B62"/>
            </a:solidFill>
          </a:ln>
          <a:effectLst/>
        </p:spPr>
        <p:txBody>
          <a:bodyPr rtlCol="0" anchor="ctr" wrap="square" lIns="128016" rIns="128016" tIns="128016" bIns="128016"/>
          <a:lstStyle/>
          <a:p>
            <a:pPr algn="l"/>
            <a:r>
              <a:rPr sz="1600" b="1" i="0">
                <a:solidFill>
                  <a:srgbClr val="1D1D1F"/>
                </a:solidFill>
                <a:latin typeface="IBM Plex Sans"/>
                <a:ea typeface="IBM Plex Sans"/>
                <a:cs typeface="IBM Plex Sans"/>
              </a:rPr>
              <a:t>Negative control</a:t>
            </a:r>
          </a:p>
          <a:p>
            <a:pPr algn="l"/>
            <a:r>
              <a:rPr sz="2600" b="1" i="0">
                <a:solidFill>
                  <a:srgbClr val="2E8B62"/>
                </a:solidFill>
                <a:latin typeface="Montserrat"/>
                <a:ea typeface="Montserrat"/>
                <a:cs typeface="Montserrat"/>
              </a:rPr>
              <a:t>0 / 4 runs</a:t>
            </a:r>
          </a:p>
          <a:p>
            <a:pPr algn="l"/>
            <a:r>
              <a:rPr sz="1300" b="0" i="0">
                <a:solidFill>
                  <a:srgbClr val="5B6B7F"/>
                </a:solidFill>
                <a:latin typeface="IBM Plex Sans"/>
                <a:ea typeface="IBM Plex Sans"/>
                <a:cs typeface="IBM Plex Sans"/>
              </a:rPr>
              <a:t>foreign canary in raw model output · nothing planted</a:t>
            </a:r>
          </a:p>
        </p:txBody>
      </p:sp>
      <p:sp>
        <p:nvSpPr>
          <p:cNvPr id="154" name="Rounded Rectangle 153"/>
          <p:cNvSpPr/>
          <p:nvPr/>
        </p:nvSpPr>
        <p:spPr>
          <a:xfrm>
            <a:off x="8174736" y="8229600"/>
            <a:ext cx="3611880" cy="1463040"/>
          </a:xfrm>
          <a:prstGeom prst="roundRect">
            <a:avLst>
              <a:gd name="adj" fmla="val 8000"/>
            </a:avLst>
          </a:prstGeom>
          <a:solidFill>
            <a:srgbClr val="FFFFFF"/>
          </a:solidFill>
          <a:ln w="15875">
            <a:solidFill>
              <a:srgbClr val="E8772E"/>
            </a:solidFill>
          </a:ln>
          <a:effectLst/>
        </p:spPr>
        <p:txBody>
          <a:bodyPr rtlCol="0" anchor="ctr" wrap="square" lIns="128016" rIns="128016" tIns="128016" bIns="128016"/>
          <a:lstStyle/>
          <a:p>
            <a:pPr algn="l"/>
            <a:r>
              <a:rPr sz="1600" b="1" i="0">
                <a:solidFill>
                  <a:srgbClr val="1D1D1F"/>
                </a:solidFill>
                <a:latin typeface="IBM Plex Sans"/>
                <a:ea typeface="IBM Plex Sans"/>
                <a:cs typeface="IBM Plex Sans"/>
              </a:rPr>
              <a:t>Gateway control</a:t>
            </a:r>
          </a:p>
          <a:p>
            <a:pPr algn="l"/>
            <a:r>
              <a:rPr sz="2600" b="1" i="0">
                <a:solidFill>
                  <a:srgbClr val="E8772E"/>
                </a:solidFill>
                <a:latin typeface="Montserrat"/>
                <a:ea typeface="Montserrat"/>
                <a:cs typeface="Montserrat"/>
              </a:rPr>
              <a:t>2 / 4 runs</a:t>
            </a:r>
          </a:p>
          <a:p>
            <a:pPr algn="l"/>
            <a:r>
              <a:rPr sz="1300" b="0" i="0">
                <a:solidFill>
                  <a:srgbClr val="5B6B7F"/>
                </a:solidFill>
                <a:latin typeface="IBM Plex Sans"/>
                <a:ea typeface="IBM Plex Sans"/>
                <a:cs typeface="IBM Plex Sans"/>
              </a:rPr>
              <a:t>foreign canary in raw model output · 15 withheld, 0 reached red</a:t>
            </a:r>
          </a:p>
        </p:txBody>
      </p:sp>
      <p:sp>
        <p:nvSpPr>
          <p:cNvPr id="155" name="Rounded Rectangle 154"/>
          <p:cNvSpPr/>
          <p:nvPr/>
        </p:nvSpPr>
        <p:spPr>
          <a:xfrm>
            <a:off x="12161520" y="2743200"/>
            <a:ext cx="5669280" cy="6949440"/>
          </a:xfrm>
          <a:prstGeom prst="roundRect">
            <a:avLst>
              <a:gd name="adj" fmla="val 4000"/>
            </a:avLst>
          </a:prstGeom>
          <a:solidFill>
            <a:srgbClr val="FFFFFF"/>
          </a:solidFill>
          <a:ln w="15875">
            <a:solidFill>
              <a:srgbClr val="C9D2DE"/>
            </a:solidFill>
          </a:ln>
          <a:effectLst/>
        </p:spPr>
        <p:txBody>
          <a:bodyPr rtlCol="0" anchor="t" wrap="square" lIns="228600" rIns="228600" tIns="228600" bIns="228600"/>
          <a:lstStyle/>
          <a:p>
            <a:pPr algn="l"/>
            <a:r>
              <a:rPr sz="1500" b="1" i="0">
                <a:solidFill>
                  <a:srgbClr val="13233A"/>
                </a:solidFill>
                <a:latin typeface="Montserrat"/>
                <a:ea typeface="Montserrat"/>
                <a:cs typeface="Montserrat"/>
              </a:rPr>
              <a:t>READ THIS WITH THE LIMITS</a:t>
            </a:r>
          </a:p>
          <a:p>
            <a:pPr algn="l"/>
            <a:r>
              <a:rPr sz="600" b="0" i="0">
                <a:solidFill>
                  <a:srgbClr val="1D1D1F"/>
                </a:solidFill>
                <a:latin typeface="IBM Plex Sans"/>
                <a:ea typeface="IBM Plex Sans"/>
                <a:cs typeface="IBM Plex Sans"/>
              </a:rPr>
              <a:t/>
            </a:r>
          </a:p>
          <a:p>
            <a:pPr algn="l"/>
            <a:r>
              <a:rPr sz="1700" b="1" i="0">
                <a:solidFill>
                  <a:srgbClr val="1D1D1F"/>
                </a:solidFill>
                <a:latin typeface="IBM Plex Sans"/>
                <a:ea typeface="IBM Plex Sans"/>
                <a:cs typeface="IBM Plex Sans"/>
              </a:rPr>
              <a:t>Not proof of zero. </a:t>
            </a:r>
            <a:r>
              <a:rPr sz="1700" b="0" i="0">
                <a:solidFill>
                  <a:srgbClr val="1D1D1F"/>
                </a:solidFill>
                <a:latin typeface="IBM Plex Sans"/>
                <a:ea typeface="IBM Plex Sans"/>
                <a:cs typeface="IBM Plex Sans"/>
              </a:rPr>
              <a:t>One-sided 95% upper bound: 2.84% of sessions (0.29% of trials), for this probe set, model and server.</a:t>
            </a:r>
          </a:p>
          <a:p>
            <a:pPr algn="l"/>
            <a:r>
              <a:rPr sz="600" b="0" i="0">
                <a:solidFill>
                  <a:srgbClr val="1D1D1F"/>
                </a:solidFill>
                <a:latin typeface="IBM Plex Sans"/>
                <a:ea typeface="IBM Plex Sans"/>
                <a:cs typeface="IBM Plex Sans"/>
              </a:rPr>
              <a:t/>
            </a:r>
          </a:p>
          <a:p>
            <a:pPr algn="l"/>
            <a:r>
              <a:rPr sz="1700" b="1" i="0">
                <a:solidFill>
                  <a:srgbClr val="1D1D1F"/>
                </a:solidFill>
                <a:latin typeface="IBM Plex Sans"/>
                <a:ea typeface="IBM Plex Sans"/>
                <a:cs typeface="IBM Plex Sans"/>
              </a:rPr>
              <a:t>Weak probes. </a:t>
            </a:r>
            <a:r>
              <a:rPr sz="1700" b="0" i="0">
                <a:solidFill>
                  <a:srgbClr val="1D1D1F"/>
                </a:solidFill>
                <a:latin typeface="IBM Plex Sans"/>
                <a:ea typeface="IBM Plex Sans"/>
                <a:cs typeface="IBM Plex Sans"/>
              </a:rPr>
              <a:t>Q01, Q08, Q10 (3 of 10) stayed silent even when context was shared on purpose; their zeros carry no weight.</a:t>
            </a:r>
          </a:p>
          <a:p>
            <a:pPr algn="l"/>
            <a:r>
              <a:rPr sz="600" b="0" i="0">
                <a:solidFill>
                  <a:srgbClr val="1D1D1F"/>
                </a:solidFill>
                <a:latin typeface="IBM Plex Sans"/>
                <a:ea typeface="IBM Plex Sans"/>
                <a:cs typeface="IBM Plex Sans"/>
              </a:rPr>
              <a:t/>
            </a:r>
          </a:p>
          <a:p>
            <a:pPr algn="l"/>
            <a:r>
              <a:rPr sz="1700" b="1" i="0">
                <a:solidFill>
                  <a:srgbClr val="1D1D1F"/>
                </a:solidFill>
                <a:latin typeface="IBM Plex Sans"/>
                <a:ea typeface="IBM Plex Sans"/>
                <a:cs typeface="IBM Plex Sans"/>
              </a:rPr>
              <a:t>What it tests. </a:t>
            </a:r>
            <a:r>
              <a:rPr sz="1700" b="0" i="0">
                <a:solidFill>
                  <a:srgbClr val="1D1D1F"/>
                </a:solidFill>
                <a:latin typeface="IBM Plex Sans"/>
                <a:ea typeface="IBM Plex Sans"/>
                <a:cs typeface="IBM Plex Sans"/>
              </a:rPr>
              <a:t>Application-level session isolation in this setup. Not GPU memory, accelerator KV-cache or hardware side channels: untested.</a:t>
            </a:r>
          </a:p>
          <a:p>
            <a:pPr algn="l"/>
            <a:r>
              <a:rPr sz="600" b="0" i="0">
                <a:solidFill>
                  <a:srgbClr val="1D1D1F"/>
                </a:solidFill>
                <a:latin typeface="IBM Plex Sans"/>
                <a:ea typeface="IBM Plex Sans"/>
                <a:cs typeface="IBM Plex Sans"/>
              </a:rPr>
              <a:t/>
            </a:r>
          </a:p>
          <a:p>
            <a:pPr algn="l"/>
            <a:r>
              <a:rPr sz="1700" b="1" i="0">
                <a:solidFill>
                  <a:srgbClr val="1D1D1F"/>
                </a:solidFill>
                <a:latin typeface="IBM Plex Sans"/>
                <a:ea typeface="IBM Plex Sans"/>
                <a:cs typeface="IBM Plex Sans"/>
              </a:rPr>
              <a:t>Injection. </a:t>
            </a:r>
            <a:r>
              <a:rPr sz="1700" b="0" i="0">
                <a:solidFill>
                  <a:srgbClr val="1D1D1F"/>
                </a:solidFill>
                <a:latin typeface="IBM Plex Sans"/>
                <a:ea typeface="IBM Plex Sans"/>
                <a:cs typeface="IBM Plex Sans"/>
              </a:rPr>
              <a:t>72 attacks, 0 protected values in red-visible output or monitoring: an information-flow result, not model robustness.</a:t>
            </a:r>
          </a:p>
          <a:p>
            <a:pPr algn="l"/>
            <a:r>
              <a:rPr sz="600" b="0" i="0">
                <a:solidFill>
                  <a:srgbClr val="1D1D1F"/>
                </a:solidFill>
                <a:latin typeface="IBM Plex Sans"/>
                <a:ea typeface="IBM Plex Sans"/>
                <a:cs typeface="IBM Plex Sans"/>
              </a:rPr>
              <a:t/>
            </a:r>
          </a:p>
          <a:p>
            <a:pPr algn="l"/>
            <a:r>
              <a:rPr sz="1700" b="1" i="0">
                <a:solidFill>
                  <a:srgbClr val="1D1D1F"/>
                </a:solidFill>
                <a:latin typeface="IBM Plex Sans"/>
                <a:ea typeface="IBM Plex Sans"/>
                <a:cs typeface="IBM Plex Sans"/>
              </a:rPr>
              <a:t>Failure handling. </a:t>
            </a:r>
            <a:r>
              <a:rPr sz="1700" b="0" i="0">
                <a:solidFill>
                  <a:srgbClr val="1D1D1F"/>
                </a:solidFill>
                <a:latin typeface="IBM Plex Sans"/>
                <a:ea typeface="IBM Plex Sans"/>
                <a:cs typeface="IBM Plex Sans"/>
              </a:rPr>
              <a:t>9 / 9 model-outage checks hold.</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4" name="Google Shape;134;p18"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35" name="Section"/>
          <p:cNvSpPr txBox="1"/>
          <p:nvPr/>
        </p:nvSpPr>
        <p:spPr>
          <a:xfrm>
            <a:off x="640080" y="1417320"/>
            <a:ext cx="17007840" cy="384048"/>
          </a:xfrm>
          <a:prstGeom prst="rect">
            <a:avLst/>
          </a:prstGeom>
          <a:noFill/>
        </p:spPr>
        <p:txBody>
          <a:bodyPr wrap="square" lIns="0" rIns="0" tIns="0" bIns="0" anchor="t">
            <a:spAutoFit/>
          </a:bodyPr>
          <a:lstStyle/>
          <a:p>
            <a:pPr algn="l"/>
            <a:r>
              <a:rPr sz="2000" b="1" i="0">
                <a:solidFill>
                  <a:srgbClr val="E8772E"/>
                </a:solidFill>
                <a:latin typeface="Montserrat"/>
                <a:ea typeface="Montserrat"/>
                <a:cs typeface="Montserrat"/>
              </a:rPr>
              <a:t>AUDIT INTEGRITY &amp; REPRODUCIBILITY</a:t>
            </a:r>
          </a:p>
        </p:txBody>
      </p:sp>
      <p:sp>
        <p:nvSpPr>
          <p:cNvPr id="136" name="Title"/>
          <p:cNvSpPr txBox="1"/>
          <p:nvPr/>
        </p:nvSpPr>
        <p:spPr>
          <a:xfrm>
            <a:off x="640080" y="1810512"/>
            <a:ext cx="17007840" cy="731520"/>
          </a:xfrm>
          <a:prstGeom prst="rect">
            <a:avLst/>
          </a:prstGeom>
          <a:noFill/>
        </p:spPr>
        <p:txBody>
          <a:bodyPr wrap="square" lIns="0" rIns="0" tIns="0" bIns="0" anchor="t">
            <a:spAutoFit/>
          </a:bodyPr>
          <a:lstStyle/>
          <a:p>
            <a:pPr algn="l"/>
            <a:r>
              <a:rPr sz="3600" b="1" i="0">
                <a:solidFill>
                  <a:srgbClr val="1D1D1F"/>
                </a:solidFill>
                <a:latin typeface="Montserrat"/>
                <a:ea typeface="Montserrat"/>
                <a:cs typeface="Montserrat"/>
              </a:rPr>
              <a:t>A released run verifies; with 3 entries removed it does not</a:t>
            </a:r>
          </a:p>
        </p:txBody>
      </p:sp>
      <p:sp>
        <p:nvSpPr>
          <p:cNvPr id="137" name="Rounded Rectangle 136"/>
          <p:cNvSpPr/>
          <p:nvPr/>
        </p:nvSpPr>
        <p:spPr>
          <a:xfrm>
            <a:off x="640080" y="2697480"/>
            <a:ext cx="6263640" cy="457200"/>
          </a:xfrm>
          <a:prstGeom prst="roundRect">
            <a:avLst>
              <a:gd name="adj" fmla="val 20000"/>
            </a:avLst>
          </a:prstGeom>
          <a:solidFill>
            <a:srgbClr val="2E8B62"/>
          </a:solidFill>
          <a:ln>
            <a:noFill/>
          </a:ln>
          <a:effectLst/>
        </p:spPr>
        <p:txBody>
          <a:bodyPr rtlCol="0" anchor="ctr" wrap="square" lIns="0" rIns="0" tIns="0" bIns="0"/>
          <a:lstStyle/>
          <a:p>
            <a:pPr algn="ctr"/>
            <a:r>
              <a:rPr sz="1600" b="1" i="0">
                <a:solidFill>
                  <a:srgbClr val="FFFFFF"/>
                </a:solidFill>
                <a:latin typeface="Montserrat"/>
                <a:ea typeface="Montserrat"/>
                <a:cs typeface="Montserrat"/>
              </a:rPr>
              <a:t>COMPLETE RUN · exit 0</a:t>
            </a:r>
          </a:p>
        </p:txBody>
      </p:sp>
      <p:pic>
        <p:nvPicPr>
          <p:cNvPr id="138" name="Picture 137" descr="term_verify_ok.png"/>
          <p:cNvPicPr>
            <a:picLocks noChangeAspect="1"/>
          </p:cNvPicPr>
          <p:nvPr/>
        </p:nvPicPr>
        <p:blipFill>
          <a:blip r:embed="rId4"/>
          <a:stretch>
            <a:fillRect/>
          </a:stretch>
        </p:blipFill>
        <p:spPr>
          <a:xfrm>
            <a:off x="640080" y="3246120"/>
            <a:ext cx="6263640" cy="4045614"/>
          </a:xfrm>
          <a:prstGeom prst="rect">
            <a:avLst/>
          </a:prstGeom>
          <a:ln w="15875">
            <a:solidFill>
              <a:srgbClr val="2E8B62"/>
            </a:solidFill>
          </a:ln>
        </p:spPr>
      </p:pic>
      <p:sp>
        <p:nvSpPr>
          <p:cNvPr id="139" name="Rounded Rectangle 138"/>
          <p:cNvSpPr/>
          <p:nvPr/>
        </p:nvSpPr>
        <p:spPr>
          <a:xfrm>
            <a:off x="7132320" y="2697480"/>
            <a:ext cx="6263640" cy="457200"/>
          </a:xfrm>
          <a:prstGeom prst="roundRect">
            <a:avLst>
              <a:gd name="adj" fmla="val 20000"/>
            </a:avLst>
          </a:prstGeom>
          <a:solidFill>
            <a:srgbClr val="C2453B"/>
          </a:solidFill>
          <a:ln>
            <a:noFill/>
          </a:ln>
          <a:effectLst/>
        </p:spPr>
        <p:txBody>
          <a:bodyPr rtlCol="0" anchor="ctr" wrap="square" lIns="0" rIns="0" tIns="0" bIns="0"/>
          <a:lstStyle/>
          <a:p>
            <a:pPr algn="ctr"/>
            <a:r>
              <a:rPr sz="1600" b="1" i="0">
                <a:solidFill>
                  <a:srgbClr val="FFFFFF"/>
                </a:solidFill>
                <a:latin typeface="Montserrat"/>
                <a:ea typeface="Montserrat"/>
                <a:cs typeface="Montserrat"/>
              </a:rPr>
              <a:t>TAMPERED COPY · exit 1</a:t>
            </a:r>
          </a:p>
        </p:txBody>
      </p:sp>
      <p:pic>
        <p:nvPicPr>
          <p:cNvPr id="140" name="Picture 139" descr="term_verify_bad.png"/>
          <p:cNvPicPr>
            <a:picLocks noChangeAspect="1"/>
          </p:cNvPicPr>
          <p:nvPr/>
        </p:nvPicPr>
        <p:blipFill>
          <a:blip r:embed="rId5"/>
          <a:stretch>
            <a:fillRect/>
          </a:stretch>
        </p:blipFill>
        <p:spPr>
          <a:xfrm>
            <a:off x="7132320" y="3246120"/>
            <a:ext cx="6263640" cy="5333232"/>
          </a:xfrm>
          <a:prstGeom prst="rect">
            <a:avLst/>
          </a:prstGeom>
          <a:ln w="15875">
            <a:solidFill>
              <a:srgbClr val="C2453B"/>
            </a:solidFill>
          </a:ln>
        </p:spPr>
      </p:pic>
      <p:sp>
        <p:nvSpPr>
          <p:cNvPr id="141" name="TextBox 140"/>
          <p:cNvSpPr txBox="1"/>
          <p:nvPr/>
        </p:nvSpPr>
        <p:spPr>
          <a:xfrm>
            <a:off x="640080" y="8689079"/>
            <a:ext cx="12755880" cy="457200"/>
          </a:xfrm>
          <a:prstGeom prst="rect">
            <a:avLst/>
          </a:prstGeom>
          <a:noFill/>
        </p:spPr>
        <p:txBody>
          <a:bodyPr wrap="square" lIns="0" rIns="0" tIns="0" bIns="0" anchor="t">
            <a:spAutoFit/>
          </a:bodyPr>
          <a:lstStyle/>
          <a:p>
            <a:pPr algn="l"/>
            <a:r>
              <a:rPr sz="1400" b="1" i="0">
                <a:solidFill>
                  <a:srgbClr val="2E8B62"/>
                </a:solidFill>
                <a:latin typeface="IBM Plex Sans"/>
                <a:ea typeface="IBM Plex Sans"/>
                <a:cs typeface="IBM Plex Sans"/>
              </a:rPr>
              <a:t>RECORDED </a:t>
            </a:r>
            <a:r>
              <a:rPr sz="1400" b="0" i="0">
                <a:solidFill>
                  <a:srgbClr val="5B6B7F"/>
                </a:solidFill>
                <a:latin typeface="IBM Plex Sans"/>
                <a:ea typeface="IBM Plex Sans"/>
                <a:cs typeface="IBM Plex Sans"/>
              </a:rPr>
              <a:t>scripts/judge_demo.sh, steps 4 and 5 · run JD-1 · key and terminal hash pinned by the reviewer · 3 entries removed from a copy</a:t>
            </a:r>
          </a:p>
        </p:txBody>
      </p:sp>
      <p:sp>
        <p:nvSpPr>
          <p:cNvPr id="142" name="Rounded Rectangle 141"/>
          <p:cNvSpPr/>
          <p:nvPr/>
        </p:nvSpPr>
        <p:spPr>
          <a:xfrm>
            <a:off x="640080" y="9329159"/>
            <a:ext cx="2948939" cy="868680"/>
          </a:xfrm>
          <a:prstGeom prst="roundRect">
            <a:avLst>
              <a:gd name="adj" fmla="val 15000"/>
            </a:avLst>
          </a:prstGeom>
          <a:solidFill>
            <a:srgbClr val="FFFFFF"/>
          </a:solidFill>
          <a:ln w="15875">
            <a:solidFill>
              <a:srgbClr val="13233A"/>
            </a:solidFill>
          </a:ln>
          <a:effectLst/>
        </p:spPr>
        <p:txBody>
          <a:bodyPr rtlCol="0" anchor="ctr" wrap="square" lIns="73152" rIns="73152" tIns="73152" bIns="73152"/>
          <a:lstStyle/>
          <a:p>
            <a:pPr algn="ctr"/>
            <a:r>
              <a:rPr sz="1500" b="1" i="0">
                <a:solidFill>
                  <a:srgbClr val="13233A"/>
                </a:solidFill>
                <a:latin typeface="IBM Plex Sans"/>
                <a:ea typeface="IBM Plex Sans"/>
                <a:cs typeface="IBM Plex Sans"/>
              </a:rPr>
              <a:t>run RELEASED</a:t>
            </a:r>
          </a:p>
        </p:txBody>
      </p:sp>
      <p:sp>
        <p:nvSpPr>
          <p:cNvPr id="1" name="Freeform 0"/>
          <p:cNvSpPr/>
          <p:nvPr/>
        </p:nvSpPr>
        <p:spPr>
          <a:xfrm>
            <a:off x="3616451" y="9758927"/>
            <a:ext cx="265176" cy="0"/>
          </a:xfrm>
          <a:custGeom>
            <a:avLst/>
            <a:gdLst/>
            <a:ahLst/>
            <a:cxnLst/>
            <a:rect l="l" t="t" r="r" b="b"/>
            <a:pathLst>
              <a:path w="265176" h="0">
                <a:moveTo>
                  <a:pt x="0" y="0"/>
                </a:moveTo>
                <a:lnTo>
                  <a:pt x="265176" y="0"/>
                </a:lnTo>
              </a:path>
            </a:pathLst>
          </a:custGeom>
          <a:noFill/>
          <a:ln w="31750">
            <a:solidFill>
              <a:srgbClr val="13233A"/>
            </a:solidFill>
            <a:tailEnd type="triangle" w="med" len="med"/>
          </a:ln>
          <a:effectLst/>
        </p:spPr>
        <p:txBody>
          <a:bodyPr rtlCol="0" anchor="ctr"/>
          <a:lstStyle/>
          <a:p>
            <a:pPr algn="ctr"/>
          </a:p>
        </p:txBody>
      </p:sp>
      <p:sp>
        <p:nvSpPr>
          <p:cNvPr id="143" name="Rounded Rectangle 142"/>
          <p:cNvSpPr/>
          <p:nvPr/>
        </p:nvSpPr>
        <p:spPr>
          <a:xfrm>
            <a:off x="3909059" y="9329159"/>
            <a:ext cx="2948939" cy="868680"/>
          </a:xfrm>
          <a:prstGeom prst="roundRect">
            <a:avLst>
              <a:gd name="adj" fmla="val 15000"/>
            </a:avLst>
          </a:prstGeom>
          <a:solidFill>
            <a:srgbClr val="FFFFFF"/>
          </a:solidFill>
          <a:ln w="15875">
            <a:solidFill>
              <a:srgbClr val="13233A"/>
            </a:solidFill>
          </a:ln>
          <a:effectLst/>
        </p:spPr>
        <p:txBody>
          <a:bodyPr rtlCol="0" anchor="ctr" wrap="square" lIns="73152" rIns="73152" tIns="73152" bIns="73152"/>
          <a:lstStyle/>
          <a:p>
            <a:pPr algn="ctr"/>
            <a:r>
              <a:rPr sz="1500" b="1" i="0">
                <a:solidFill>
                  <a:srgbClr val="13233A"/>
                </a:solidFill>
                <a:latin typeface="IBM Plex Sans"/>
                <a:ea typeface="IBM Plex Sans"/>
                <a:cs typeface="IBM Plex Sans"/>
              </a:rPr>
              <a:t>terminal checkpoint signed</a:t>
            </a:r>
          </a:p>
        </p:txBody>
      </p:sp>
      <p:sp>
        <p:nvSpPr>
          <p:cNvPr id="2" name="Freeform 1"/>
          <p:cNvSpPr/>
          <p:nvPr/>
        </p:nvSpPr>
        <p:spPr>
          <a:xfrm>
            <a:off x="6885431" y="9758927"/>
            <a:ext cx="265176" cy="0"/>
          </a:xfrm>
          <a:custGeom>
            <a:avLst/>
            <a:gdLst/>
            <a:ahLst/>
            <a:cxnLst/>
            <a:rect l="l" t="t" r="r" b="b"/>
            <a:pathLst>
              <a:path w="265176" h="0">
                <a:moveTo>
                  <a:pt x="0" y="0"/>
                </a:moveTo>
                <a:lnTo>
                  <a:pt x="265176" y="0"/>
                </a:lnTo>
              </a:path>
            </a:pathLst>
          </a:custGeom>
          <a:noFill/>
          <a:ln w="31750">
            <a:solidFill>
              <a:srgbClr val="13233A"/>
            </a:solidFill>
            <a:tailEnd type="triangle" w="med" len="med"/>
          </a:ln>
          <a:effectLst/>
        </p:spPr>
        <p:txBody>
          <a:bodyPr rtlCol="0" anchor="ctr"/>
          <a:lstStyle/>
          <a:p>
            <a:pPr algn="ctr"/>
          </a:p>
        </p:txBody>
      </p:sp>
      <p:sp>
        <p:nvSpPr>
          <p:cNvPr id="144" name="Rounded Rectangle 143"/>
          <p:cNvSpPr/>
          <p:nvPr/>
        </p:nvSpPr>
        <p:spPr>
          <a:xfrm>
            <a:off x="7178040" y="9329159"/>
            <a:ext cx="2948939" cy="868680"/>
          </a:xfrm>
          <a:prstGeom prst="roundRect">
            <a:avLst>
              <a:gd name="adj" fmla="val 15000"/>
            </a:avLst>
          </a:prstGeom>
          <a:solidFill>
            <a:srgbClr val="FFFFFF"/>
          </a:solidFill>
          <a:ln w="15875">
            <a:solidFill>
              <a:srgbClr val="13233A"/>
            </a:solidFill>
          </a:ln>
          <a:effectLst/>
        </p:spPr>
        <p:txBody>
          <a:bodyPr rtlCol="0" anchor="ctr" wrap="square" lIns="73152" rIns="73152" tIns="73152" bIns="73152"/>
          <a:lstStyle/>
          <a:p>
            <a:pPr algn="ctr"/>
            <a:r>
              <a:rPr sz="1500" b="1" i="0">
                <a:solidFill>
                  <a:srgbClr val="13233A"/>
                </a:solidFill>
                <a:latin typeface="IBM Plex Sans"/>
                <a:ea typeface="IBM Plex Sans"/>
                <a:cs typeface="IBM Plex Sans"/>
              </a:rPr>
              <a:t>bundle exported</a:t>
            </a:r>
          </a:p>
        </p:txBody>
      </p:sp>
      <p:sp>
        <p:nvSpPr>
          <p:cNvPr id="3" name="Freeform 2"/>
          <p:cNvSpPr/>
          <p:nvPr/>
        </p:nvSpPr>
        <p:spPr>
          <a:xfrm>
            <a:off x="10154411" y="9758927"/>
            <a:ext cx="265177" cy="0"/>
          </a:xfrm>
          <a:custGeom>
            <a:avLst/>
            <a:gdLst/>
            <a:ahLst/>
            <a:cxnLst/>
            <a:rect l="l" t="t" r="r" b="b"/>
            <a:pathLst>
              <a:path w="265177" h="0">
                <a:moveTo>
                  <a:pt x="0" y="0"/>
                </a:moveTo>
                <a:lnTo>
                  <a:pt x="265177" y="0"/>
                </a:lnTo>
              </a:path>
            </a:pathLst>
          </a:custGeom>
          <a:noFill/>
          <a:ln w="31750">
            <a:solidFill>
              <a:srgbClr val="13233A"/>
            </a:solidFill>
            <a:tailEnd type="triangle" w="med" len="med"/>
          </a:ln>
          <a:effectLst/>
        </p:spPr>
        <p:txBody>
          <a:bodyPr rtlCol="0" anchor="ctr"/>
          <a:lstStyle/>
          <a:p>
            <a:pPr algn="ctr"/>
          </a:p>
        </p:txBody>
      </p:sp>
      <p:sp>
        <p:nvSpPr>
          <p:cNvPr id="145" name="Rounded Rectangle 144"/>
          <p:cNvSpPr/>
          <p:nvPr/>
        </p:nvSpPr>
        <p:spPr>
          <a:xfrm>
            <a:off x="10447019" y="9329159"/>
            <a:ext cx="2948939" cy="868680"/>
          </a:xfrm>
          <a:prstGeom prst="roundRect">
            <a:avLst>
              <a:gd name="adj" fmla="val 15000"/>
            </a:avLst>
          </a:prstGeom>
          <a:solidFill>
            <a:srgbClr val="FFFFFF"/>
          </a:solidFill>
          <a:ln w="15875">
            <a:solidFill>
              <a:srgbClr val="2E8B62"/>
            </a:solidFill>
          </a:ln>
          <a:effectLst/>
        </p:spPr>
        <p:txBody>
          <a:bodyPr rtlCol="0" anchor="ctr" wrap="square" lIns="73152" rIns="73152" tIns="73152" bIns="73152"/>
          <a:lstStyle/>
          <a:p>
            <a:pPr algn="ctr"/>
            <a:r>
              <a:rPr sz="1500" b="1" i="0">
                <a:solidFill>
                  <a:srgbClr val="2E8B62"/>
                </a:solidFill>
                <a:latin typeface="IBM Plex Sans"/>
                <a:ea typeface="IBM Plex Sans"/>
                <a:cs typeface="IBM Plex Sans"/>
              </a:rPr>
              <a:t>strict verify: pinned key + noted hash</a:t>
            </a:r>
          </a:p>
        </p:txBody>
      </p:sp>
      <p:sp>
        <p:nvSpPr>
          <p:cNvPr id="146" name="Rounded Rectangle 145"/>
          <p:cNvSpPr/>
          <p:nvPr/>
        </p:nvSpPr>
        <p:spPr>
          <a:xfrm>
            <a:off x="13853160" y="2697480"/>
            <a:ext cx="3977639" cy="5074920"/>
          </a:xfrm>
          <a:prstGeom prst="roundRect">
            <a:avLst>
              <a:gd name="adj" fmla="val 4000"/>
            </a:avLst>
          </a:prstGeom>
          <a:solidFill>
            <a:srgbClr val="F6F8FA"/>
          </a:solidFill>
          <a:ln w="15875">
            <a:solidFill>
              <a:srgbClr val="C9D2DE"/>
            </a:solidFill>
          </a:ln>
          <a:effectLst/>
        </p:spPr>
        <p:txBody>
          <a:bodyPr rtlCol="0" anchor="ctr" wrap="square" lIns="201168" rIns="201168" tIns="201168" bIns="201168"/>
          <a:lstStyle/>
          <a:p>
            <a:pPr algn="l"/>
            <a:r>
              <a:rPr sz="1500" b="1" i="0">
                <a:solidFill>
                  <a:srgbClr val="13233A"/>
                </a:solidFill>
                <a:latin typeface="Montserrat"/>
                <a:ea typeface="Montserrat"/>
                <a:cs typeface="Montserrat"/>
              </a:rPr>
              <a:t>REPRODUCE IT</a:t>
            </a:r>
          </a:p>
          <a:p>
            <a:pPr algn="l"/>
            <a:r>
              <a:rPr sz="500" b="0" i="0">
                <a:solidFill>
                  <a:srgbClr val="1D1D1F"/>
                </a:solidFill>
                <a:latin typeface="IBM Plex Sans"/>
                <a:ea typeface="IBM Plex Sans"/>
                <a:cs typeface="IBM Plex Sans"/>
              </a:rPr>
              <a:t/>
            </a:r>
          </a:p>
          <a:p>
            <a:pPr algn="l"/>
            <a:r>
              <a:rPr sz="1350" b="1" i="0">
                <a:solidFill>
                  <a:srgbClr val="1D1D1F"/>
                </a:solidFill>
                <a:latin typeface="IBM Plex Mono"/>
                <a:ea typeface="IBM Plex Mono"/>
                <a:cs typeface="IBM Plex Mono"/>
              </a:rPr>
              <a:t>bash scripts/quickstart.sh</a:t>
            </a:r>
          </a:p>
          <a:p>
            <a:pPr algn="l"/>
            <a:r>
              <a:rPr sz="1550" b="0" i="0">
                <a:solidFill>
                  <a:srgbClr val="1D1D1F"/>
                </a:solidFill>
                <a:latin typeface="IBM Plex Sans"/>
                <a:ea typeface="IBM Plex Sans"/>
                <a:cs typeface="IBM Plex Sans"/>
              </a:rPr>
              <a:t>8 / 8 stages pass; 345 tests passed</a:t>
            </a:r>
          </a:p>
          <a:p>
            <a:pPr algn="l"/>
            <a:r>
              <a:rPr sz="500" b="0" i="0">
                <a:solidFill>
                  <a:srgbClr val="1D1D1F"/>
                </a:solidFill>
                <a:latin typeface="IBM Plex Sans"/>
                <a:ea typeface="IBM Plex Sans"/>
                <a:cs typeface="IBM Plex Sans"/>
              </a:rPr>
              <a:t/>
            </a:r>
          </a:p>
          <a:p>
            <a:pPr algn="l"/>
            <a:r>
              <a:rPr sz="1350" b="1" i="0">
                <a:solidFill>
                  <a:srgbClr val="1D1D1F"/>
                </a:solidFill>
                <a:latin typeface="IBM Plex Mono"/>
                <a:ea typeface="IBM Plex Mono"/>
                <a:cs typeface="IBM Plex Mono"/>
              </a:rPr>
              <a:t>bash scripts/judge_demo.sh</a:t>
            </a:r>
          </a:p>
          <a:p>
            <a:pPr algn="l"/>
            <a:r>
              <a:rPr sz="1550" b="0" i="0">
                <a:solidFill>
                  <a:srgbClr val="1D1D1F"/>
                </a:solidFill>
                <a:latin typeface="IBM Plex Sans"/>
                <a:ea typeface="IBM Plex Sans"/>
                <a:cs typeface="IBM Plex Sans"/>
              </a:rPr>
              <a:t>17 / 17 checks, a few seconds, offline</a:t>
            </a:r>
          </a:p>
          <a:p>
            <a:pPr algn="l"/>
            <a:r>
              <a:rPr sz="500" b="0" i="0">
                <a:solidFill>
                  <a:srgbClr val="1D1D1F"/>
                </a:solidFill>
                <a:latin typeface="IBM Plex Sans"/>
                <a:ea typeface="IBM Plex Sans"/>
                <a:cs typeface="IBM Plex Sans"/>
              </a:rPr>
              <a:t/>
            </a:r>
          </a:p>
          <a:p>
            <a:pPr algn="l"/>
            <a:r>
              <a:rPr sz="1350" b="1" i="0">
                <a:solidFill>
                  <a:srgbClr val="1D1D1F"/>
                </a:solidFill>
                <a:latin typeface="IBM Plex Mono"/>
                <a:ea typeface="IBM Plex Mono"/>
                <a:cs typeface="IBM Plex Mono"/>
              </a:rPr>
              <a:t>bash scripts/security_demo.sh</a:t>
            </a:r>
          </a:p>
          <a:p>
            <a:pPr algn="l"/>
            <a:r>
              <a:rPr sz="1550" b="0" i="0">
                <a:solidFill>
                  <a:srgbClr val="1D1D1F"/>
                </a:solidFill>
                <a:latin typeface="IBM Plex Sans"/>
                <a:ea typeface="IBM Plex Sans"/>
                <a:cs typeface="IBM Plex Sans"/>
              </a:rPr>
              <a:t>34 / 34 checks plus 1 documented limit</a:t>
            </a:r>
          </a:p>
          <a:p>
            <a:pPr algn="l"/>
            <a:r>
              <a:rPr sz="500" b="0" i="0">
                <a:solidFill>
                  <a:srgbClr val="1D1D1F"/>
                </a:solidFill>
                <a:latin typeface="IBM Plex Sans"/>
                <a:ea typeface="IBM Plex Sans"/>
                <a:cs typeface="IBM Plex Sans"/>
              </a:rPr>
              <a:t/>
            </a:r>
          </a:p>
          <a:p>
            <a:pPr algn="l"/>
            <a:r>
              <a:rPr sz="1350" b="1" i="0">
                <a:solidFill>
                  <a:srgbClr val="1D1D1F"/>
                </a:solidFill>
                <a:latin typeface="IBM Plex Mono"/>
                <a:ea typeface="IBM Plex Mono"/>
                <a:cs typeface="IBM Plex Mono"/>
              </a:rPr>
              <a:t>python evaluation/check_claims.py</a:t>
            </a:r>
          </a:p>
          <a:p>
            <a:pPr algn="l"/>
            <a:r>
              <a:rPr sz="1550" b="0" i="0">
                <a:solidFill>
                  <a:srgbClr val="1D1D1F"/>
                </a:solidFill>
                <a:latin typeface="IBM Plex Sans"/>
                <a:ea typeface="IBM Plex Sans"/>
                <a:cs typeface="IBM Plex Sans"/>
              </a:rPr>
              <a:t>recomputes quoted figures from raw files (134 / 134 checks)</a:t>
            </a:r>
          </a:p>
        </p:txBody>
      </p:sp>
      <p:sp>
        <p:nvSpPr>
          <p:cNvPr id="147" name="Rounded Rectangle 146"/>
          <p:cNvSpPr/>
          <p:nvPr/>
        </p:nvSpPr>
        <p:spPr>
          <a:xfrm>
            <a:off x="13853160" y="7955279"/>
            <a:ext cx="3977639" cy="1828800"/>
          </a:xfrm>
          <a:prstGeom prst="roundRect">
            <a:avLst>
              <a:gd name="adj" fmla="val 6000"/>
            </a:avLst>
          </a:prstGeom>
          <a:solidFill>
            <a:srgbClr val="FFF1D6"/>
          </a:solidFill>
          <a:ln w="15875">
            <a:solidFill>
              <a:srgbClr val="9A6200"/>
            </a:solidFill>
          </a:ln>
          <a:effectLst/>
        </p:spPr>
        <p:txBody>
          <a:bodyPr rtlCol="0" anchor="ctr" wrap="square" lIns="164592" rIns="164592" tIns="164592" bIns="164592"/>
          <a:lstStyle/>
          <a:p>
            <a:pPr algn="l"/>
            <a:r>
              <a:rPr sz="1450" b="1" i="0">
                <a:solidFill>
                  <a:srgbClr val="9A6200"/>
                </a:solidFill>
                <a:latin typeface="IBM Plex Sans"/>
                <a:ea typeface="IBM Plex Sans"/>
                <a:cs typeface="IBM Plex Sans"/>
              </a:rPr>
              <a:t>In progress is not complete. </a:t>
            </a:r>
            <a:r>
              <a:rPr sz="1450" b="0" i="0">
                <a:solidFill>
                  <a:srgbClr val="1D1D1F"/>
                </a:solidFill>
                <a:latin typeface="IBM Plex Sans"/>
                <a:ea typeface="IBM Plex Sans"/>
                <a:cs typeface="IBM Plex Sans"/>
              </a:rPr>
              <a:t>A log still being written is reported terminal_verified: false and never counts as a strict pass; the legacy DEMO-001 predates terminal checkpoints and is rejected by design.</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43" name="Google Shape;143;p19"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144" name="Section"/>
          <p:cNvSpPr txBox="1"/>
          <p:nvPr/>
        </p:nvSpPr>
        <p:spPr>
          <a:xfrm>
            <a:off x="640080" y="1417320"/>
            <a:ext cx="17007840" cy="384048"/>
          </a:xfrm>
          <a:prstGeom prst="rect">
            <a:avLst/>
          </a:prstGeom>
          <a:noFill/>
        </p:spPr>
        <p:txBody>
          <a:bodyPr wrap="square" lIns="0" rIns="0" tIns="0" bIns="0" anchor="t">
            <a:spAutoFit/>
          </a:bodyPr>
          <a:lstStyle/>
          <a:p>
            <a:pPr algn="l"/>
            <a:r>
              <a:rPr sz="2000" b="1" i="0">
                <a:solidFill>
                  <a:srgbClr val="E8772E"/>
                </a:solidFill>
                <a:latin typeface="Montserrat"/>
                <a:ea typeface="Montserrat"/>
                <a:cs typeface="Montserrat"/>
              </a:rPr>
              <a:t>PERFORMANCE, LIMITS &amp; DEPLOYMENT</a:t>
            </a:r>
          </a:p>
        </p:txBody>
      </p:sp>
      <p:sp>
        <p:nvSpPr>
          <p:cNvPr id="145" name="Title"/>
          <p:cNvSpPr txBox="1"/>
          <p:nvPr/>
        </p:nvSpPr>
        <p:spPr>
          <a:xfrm>
            <a:off x="640080" y="1810512"/>
            <a:ext cx="17007840" cy="731520"/>
          </a:xfrm>
          <a:prstGeom prst="rect">
            <a:avLst/>
          </a:prstGeom>
          <a:noFill/>
        </p:spPr>
        <p:txBody>
          <a:bodyPr wrap="square" lIns="0" rIns="0" tIns="0" bIns="0" anchor="t">
            <a:spAutoFit/>
          </a:bodyPr>
          <a:lstStyle/>
          <a:p>
            <a:pPr algn="l"/>
            <a:r>
              <a:rPr sz="3600" b="1" i="0">
                <a:solidFill>
                  <a:srgbClr val="1D1D1F"/>
                </a:solidFill>
                <a:latin typeface="Montserrat"/>
                <a:ea typeface="Montserrat"/>
                <a:cs typeface="Montserrat"/>
              </a:rPr>
              <a:t>What it costs, and exactly where the guarantees stop</a:t>
            </a:r>
          </a:p>
        </p:txBody>
      </p:sp>
      <p:sp>
        <p:nvSpPr>
          <p:cNvPr id="146" name="TextBox 145"/>
          <p:cNvSpPr txBox="1"/>
          <p:nvPr/>
        </p:nvSpPr>
        <p:spPr>
          <a:xfrm>
            <a:off x="640080" y="2743200"/>
            <a:ext cx="5486400" cy="365760"/>
          </a:xfrm>
          <a:prstGeom prst="rect">
            <a:avLst/>
          </a:prstGeom>
          <a:noFill/>
        </p:spPr>
        <p:txBody>
          <a:bodyPr wrap="square" lIns="0" rIns="0" tIns="0" bIns="0" anchor="t">
            <a:spAutoFit/>
          </a:bodyPr>
          <a:lstStyle/>
          <a:p>
            <a:pPr algn="l"/>
            <a:r>
              <a:rPr sz="1500" b="1" i="0">
                <a:solidFill>
                  <a:srgbClr val="13233A"/>
                </a:solidFill>
                <a:latin typeface="Montserrat"/>
                <a:ea typeface="Montserrat"/>
                <a:cs typeface="Montserrat"/>
              </a:rPr>
              <a:t>MEASURED COST (one host, CPU)</a:t>
            </a:r>
          </a:p>
        </p:txBody>
      </p:sp>
      <p:sp>
        <p:nvSpPr>
          <p:cNvPr id="147" name="Rounded Rectangle 146"/>
          <p:cNvSpPr/>
          <p:nvPr/>
        </p:nvSpPr>
        <p:spPr>
          <a:xfrm>
            <a:off x="640080" y="3200400"/>
            <a:ext cx="5486400" cy="1051560"/>
          </a:xfrm>
          <a:prstGeom prst="roundRect">
            <a:avLst>
              <a:gd name="adj" fmla="val 6000"/>
            </a:avLst>
          </a:prstGeom>
          <a:solidFill>
            <a:srgbClr val="FFFFFF"/>
          </a:solidFill>
          <a:ln w="15875">
            <a:solidFill>
              <a:srgbClr val="C9D2DE"/>
            </a:solidFill>
          </a:ln>
          <a:effectLst/>
        </p:spPr>
        <p:txBody>
          <a:bodyPr rtlCol="0" anchor="ctr" wrap="square" lIns="146304" rIns="146304" tIns="146304" bIns="146304"/>
          <a:lstStyle/>
          <a:p>
            <a:pPr algn="l"/>
            <a:r>
              <a:rPr sz="1750" b="1" i="0">
                <a:solidFill>
                  <a:srgbClr val="1D1D1F"/>
                </a:solidFill>
                <a:latin typeface="IBM Plex Sans"/>
                <a:ea typeface="IBM Plex Sans"/>
                <a:cs typeface="IBM Plex Sans"/>
              </a:rPr>
              <a:t>Broker hop</a:t>
            </a:r>
          </a:p>
          <a:p>
            <a:pPr algn="l"/>
            <a:r>
              <a:rPr sz="1550" b="0" i="0">
                <a:solidFill>
                  <a:srgbClr val="5B6B7F"/>
                </a:solidFill>
                <a:latin typeface="IBM Plex Sans"/>
                <a:ea typeface="IBM Plex Sans"/>
                <a:cs typeface="IBM Plex Sans"/>
              </a:rPr>
              <a:t>2.59–2.84 ms median, idle host, stub model</a:t>
            </a:r>
          </a:p>
        </p:txBody>
      </p:sp>
      <p:sp>
        <p:nvSpPr>
          <p:cNvPr id="148" name="Rounded Rectangle 147"/>
          <p:cNvSpPr/>
          <p:nvPr/>
        </p:nvSpPr>
        <p:spPr>
          <a:xfrm>
            <a:off x="640080" y="4343400"/>
            <a:ext cx="5486400" cy="1965960"/>
          </a:xfrm>
          <a:prstGeom prst="roundRect">
            <a:avLst>
              <a:gd name="adj" fmla="val 6000"/>
            </a:avLst>
          </a:prstGeom>
          <a:solidFill>
            <a:srgbClr val="FFFFFF"/>
          </a:solidFill>
          <a:ln w="15875">
            <a:solidFill>
              <a:srgbClr val="C9D2DE"/>
            </a:solidFill>
          </a:ln>
          <a:effectLst/>
        </p:spPr>
        <p:txBody>
          <a:bodyPr rtlCol="0" anchor="ctr" wrap="square" lIns="146304" rIns="146304" tIns="146304" bIns="146304"/>
          <a:lstStyle/>
          <a:p>
            <a:pPr algn="l"/>
            <a:r>
              <a:rPr sz="1750" b="1" i="0">
                <a:solidFill>
                  <a:srgbClr val="1D1D1F"/>
                </a:solidFill>
                <a:latin typeface="IBM Plex Sans"/>
                <a:ea typeface="IBM Plex Sans"/>
                <a:cs typeface="IBM Plex Sans"/>
              </a:rPr>
              <a:t>Timing padding, 250 ms</a:t>
            </a:r>
          </a:p>
          <a:p>
            <a:pPr algn="l"/>
            <a:r>
              <a:rPr sz="1550" b="0" i="0">
                <a:solidFill>
                  <a:srgbClr val="5B6B7F"/>
                </a:solidFill>
                <a:latin typeface="IBM Plex Sans"/>
                <a:ea typeface="IBM Plex Sans"/>
                <a:cs typeface="IBM Plex Sans"/>
              </a:rPr>
              <a:t>Classifier accuracy 0.495–0.555 vs 0.795–0.800 unpadded; +198 to +201 ms per answered request. Lowers one classifier's accuracy; does not show the timing channel is gone.</a:t>
            </a:r>
          </a:p>
        </p:txBody>
      </p:sp>
      <p:sp>
        <p:nvSpPr>
          <p:cNvPr id="149" name="Rounded Rectangle 148"/>
          <p:cNvSpPr/>
          <p:nvPr/>
        </p:nvSpPr>
        <p:spPr>
          <a:xfrm>
            <a:off x="640080" y="6400800"/>
            <a:ext cx="5486400" cy="1371600"/>
          </a:xfrm>
          <a:prstGeom prst="roundRect">
            <a:avLst>
              <a:gd name="adj" fmla="val 6000"/>
            </a:avLst>
          </a:prstGeom>
          <a:solidFill>
            <a:srgbClr val="FFFFFF"/>
          </a:solidFill>
          <a:ln w="15875">
            <a:solidFill>
              <a:srgbClr val="C9D2DE"/>
            </a:solidFill>
          </a:ln>
          <a:effectLst/>
        </p:spPr>
        <p:txBody>
          <a:bodyPr rtlCol="0" anchor="ctr" wrap="square" lIns="146304" rIns="146304" tIns="146304" bIns="146304"/>
          <a:lstStyle/>
          <a:p>
            <a:pPr algn="l"/>
            <a:r>
              <a:rPr sz="1750" b="1" i="0">
                <a:solidFill>
                  <a:srgbClr val="1D1D1F"/>
                </a:solidFill>
                <a:latin typeface="IBM Plex Sans"/>
                <a:ea typeface="IBM Plex Sans"/>
                <a:cs typeface="IBM Plex Sans"/>
              </a:rPr>
              <a:t>Real model on CPU</a:t>
            </a:r>
          </a:p>
          <a:p>
            <a:pPr algn="l"/>
            <a:r>
              <a:rPr sz="1550" b="0" i="0">
                <a:solidFill>
                  <a:srgbClr val="5B6B7F"/>
                </a:solidFill>
                <a:latin typeface="IBM Plex Sans"/>
                <a:ea typeface="IBM Plex Sans"/>
                <a:cs typeface="IBM Plex Sans"/>
              </a:rPr>
              <a:t>Qwen2.5-0.5B on a loopback-only endpoint: median 349 ms per request, prompt cache off.</a:t>
            </a:r>
          </a:p>
        </p:txBody>
      </p:sp>
      <p:sp>
        <p:nvSpPr>
          <p:cNvPr id="150" name="Rounded Rectangle 149"/>
          <p:cNvSpPr/>
          <p:nvPr/>
        </p:nvSpPr>
        <p:spPr>
          <a:xfrm>
            <a:off x="640080" y="7863840"/>
            <a:ext cx="5486400" cy="1965960"/>
          </a:xfrm>
          <a:prstGeom prst="roundRect">
            <a:avLst>
              <a:gd name="adj" fmla="val 6000"/>
            </a:avLst>
          </a:prstGeom>
          <a:solidFill>
            <a:srgbClr val="FFFFFF"/>
          </a:solidFill>
          <a:ln w="15875">
            <a:solidFill>
              <a:srgbClr val="C9D2DE"/>
            </a:solidFill>
          </a:ln>
          <a:effectLst/>
        </p:spPr>
        <p:txBody>
          <a:bodyPr rtlCol="0" anchor="ctr" wrap="square" lIns="146304" rIns="146304" tIns="146304" bIns="146304"/>
          <a:lstStyle/>
          <a:p>
            <a:pPr algn="l"/>
            <a:r>
              <a:rPr sz="1750" b="1" i="0">
                <a:solidFill>
                  <a:srgbClr val="1D1D1F"/>
                </a:solidFill>
                <a:latin typeface="IBM Plex Sans"/>
                <a:ea typeface="IBM Plex Sans"/>
                <a:cs typeface="IBM Plex Sans"/>
              </a:rPr>
              <a:t>Inference state</a:t>
            </a:r>
          </a:p>
          <a:p>
            <a:pPr algn="l"/>
            <a:r>
              <a:rPr sz="1550" b="0" i="0">
                <a:solidFill>
                  <a:srgbClr val="5B6B7F"/>
                </a:solidFill>
                <a:latin typeface="IBM Plex Sans"/>
                <a:ea typeface="IBM Plex Sans"/>
                <a:cs typeface="IBM Plex Sans"/>
              </a:rPr>
              <a:t>cache_prompt true: a second session confirms a guess (cached tokens 119 vs 99, AUC 1.00). AegisLab sends false: 0 / 120 trials cached, 0 / 14 after restart.</a:t>
            </a:r>
          </a:p>
        </p:txBody>
      </p:sp>
      <p:sp>
        <p:nvSpPr>
          <p:cNvPr id="151" name="TextBox 150"/>
          <p:cNvSpPr txBox="1"/>
          <p:nvPr/>
        </p:nvSpPr>
        <p:spPr>
          <a:xfrm>
            <a:off x="6400800" y="2743200"/>
            <a:ext cx="5486400" cy="365760"/>
          </a:xfrm>
          <a:prstGeom prst="rect">
            <a:avLst/>
          </a:prstGeom>
          <a:noFill/>
        </p:spPr>
        <p:txBody>
          <a:bodyPr wrap="square" lIns="0" rIns="0" tIns="0" bIns="0" anchor="t">
            <a:spAutoFit/>
          </a:bodyPr>
          <a:lstStyle/>
          <a:p>
            <a:pPr algn="l"/>
            <a:r>
              <a:rPr sz="1500" b="1" i="0">
                <a:solidFill>
                  <a:srgbClr val="C2453B"/>
                </a:solidFill>
                <a:latin typeface="Montserrat"/>
                <a:ea typeface="Montserrat"/>
                <a:cs typeface="Montserrat"/>
              </a:rPr>
              <a:t>RESIDUAL RISK: NOT PROVEN AWAY</a:t>
            </a:r>
          </a:p>
        </p:txBody>
      </p:sp>
      <p:sp>
        <p:nvSpPr>
          <p:cNvPr id="152" name="Rounded Rectangle 151"/>
          <p:cNvSpPr/>
          <p:nvPr/>
        </p:nvSpPr>
        <p:spPr>
          <a:xfrm>
            <a:off x="6400800" y="3200400"/>
            <a:ext cx="5486400" cy="2240280"/>
          </a:xfrm>
          <a:prstGeom prst="roundRect">
            <a:avLst>
              <a:gd name="adj" fmla="val 6000"/>
            </a:avLst>
          </a:prstGeom>
          <a:solidFill>
            <a:srgbClr val="FBE7E5"/>
          </a:solidFill>
          <a:ln w="15875">
            <a:solidFill>
              <a:srgbClr val="C2453B"/>
            </a:solidFill>
          </a:ln>
          <a:effectLst/>
        </p:spPr>
        <p:txBody>
          <a:bodyPr rtlCol="0" anchor="ctr" wrap="square" lIns="146304" rIns="146304" tIns="146304" bIns="146304"/>
          <a:lstStyle/>
          <a:p>
            <a:pPr algn="l"/>
            <a:r>
              <a:rPr sz="1750" b="1" i="0">
                <a:solidFill>
                  <a:srgbClr val="C2453B"/>
                </a:solidFill>
                <a:latin typeface="IBM Plex Sans"/>
                <a:ea typeface="IBM Plex Sans"/>
                <a:cs typeface="IBM Plex Sans"/>
              </a:rPr>
              <a:t>Trusted broker and signing key</a:t>
            </a:r>
          </a:p>
          <a:p>
            <a:pPr algn="l"/>
            <a:r>
              <a:rPr sz="1550" b="0" i="0">
                <a:solidFill>
                  <a:srgbClr val="1D1D1F"/>
                </a:solidFill>
                <a:latin typeface="IBM Plex Sans"/>
                <a:ea typeface="IBM Plex Sans"/>
                <a:cs typeface="IBM Plex Sans"/>
              </a:rPr>
              <a:t>A compromised broker signs false but consistent records. A key thief who replaces every copy defeats the scheme unless the reviewer holds an independent terminal hash.</a:t>
            </a:r>
          </a:p>
        </p:txBody>
      </p:sp>
      <p:sp>
        <p:nvSpPr>
          <p:cNvPr id="153" name="Rounded Rectangle 152"/>
          <p:cNvSpPr/>
          <p:nvPr/>
        </p:nvSpPr>
        <p:spPr>
          <a:xfrm>
            <a:off x="6400800" y="5532120"/>
            <a:ext cx="5486400" cy="1783080"/>
          </a:xfrm>
          <a:prstGeom prst="roundRect">
            <a:avLst>
              <a:gd name="adj" fmla="val 6000"/>
            </a:avLst>
          </a:prstGeom>
          <a:solidFill>
            <a:srgbClr val="FBE7E5"/>
          </a:solidFill>
          <a:ln w="15875">
            <a:solidFill>
              <a:srgbClr val="C2453B"/>
            </a:solidFill>
          </a:ln>
          <a:effectLst/>
        </p:spPr>
        <p:txBody>
          <a:bodyPr rtlCol="0" anchor="ctr" wrap="square" lIns="146304" rIns="146304" tIns="146304" bIns="146304"/>
          <a:lstStyle/>
          <a:p>
            <a:pPr algn="l"/>
            <a:r>
              <a:rPr sz="1750" b="1" i="0">
                <a:solidFill>
                  <a:srgbClr val="C2453B"/>
                </a:solidFill>
                <a:latin typeface="IBM Plex Sans"/>
                <a:ea typeface="IBM Plex Sans"/>
                <a:cs typeface="IBM Plex Sans"/>
              </a:rPr>
              <a:t>Shared host</a:t>
            </a:r>
          </a:p>
          <a:p>
            <a:pPr algn="l"/>
            <a:r>
              <a:rPr sz="1550" b="0" i="0">
                <a:solidFill>
                  <a:srgbClr val="1D1D1F"/>
                </a:solidFill>
                <a:latin typeface="IBM Plex Sans"/>
                <a:ea typeface="IBM Plex Sans"/>
                <a:cs typeface="IBM Plex Sans"/>
              </a:rPr>
              <a:t>Kernel, container runtime and hardware side channels are shared. GPU memory and accelerator KV cache were not tested.</a:t>
            </a:r>
          </a:p>
        </p:txBody>
      </p:sp>
      <p:sp>
        <p:nvSpPr>
          <p:cNvPr id="154" name="Rounded Rectangle 153"/>
          <p:cNvSpPr/>
          <p:nvPr/>
        </p:nvSpPr>
        <p:spPr>
          <a:xfrm>
            <a:off x="6400800" y="7406640"/>
            <a:ext cx="5486400" cy="2057400"/>
          </a:xfrm>
          <a:prstGeom prst="roundRect">
            <a:avLst>
              <a:gd name="adj" fmla="val 6000"/>
            </a:avLst>
          </a:prstGeom>
          <a:solidFill>
            <a:srgbClr val="FBE7E5"/>
          </a:solidFill>
          <a:ln w="15875">
            <a:solidFill>
              <a:srgbClr val="C2453B"/>
            </a:solidFill>
          </a:ln>
          <a:effectLst/>
        </p:spPr>
        <p:txBody>
          <a:bodyPr rtlCol="0" anchor="ctr" wrap="square" lIns="146304" rIns="146304" tIns="146304" bIns="146304"/>
          <a:lstStyle/>
          <a:p>
            <a:pPr algn="l"/>
            <a:r>
              <a:rPr sz="1750" b="1" i="0">
                <a:solidFill>
                  <a:srgbClr val="C2453B"/>
                </a:solidFill>
                <a:latin typeface="IBM Plex Sans"/>
                <a:ea typeface="IBM Plex Sans"/>
                <a:cs typeface="IBM Plex Sans"/>
              </a:rPr>
              <a:t>One model, one detector</a:t>
            </a:r>
          </a:p>
          <a:p>
            <a:pPr algn="l"/>
            <a:r>
              <a:rPr sz="1550" b="0" i="0">
                <a:solidFill>
                  <a:srgbClr val="1D1D1F"/>
                </a:solidFill>
                <a:latin typeface="IBM Plex Sans"/>
                <a:ea typeface="IBM Plex Sans"/>
                <a:cs typeface="IBM Plex Sans"/>
              </a:rPr>
              <a:t>One 0.5B model and ten probe wordings; 3 probes silent under shared context. The canary detector misses re-encodings such as base64.</a:t>
            </a:r>
          </a:p>
        </p:txBody>
      </p:sp>
      <p:sp>
        <p:nvSpPr>
          <p:cNvPr id="155" name="TextBox 154"/>
          <p:cNvSpPr txBox="1"/>
          <p:nvPr/>
        </p:nvSpPr>
        <p:spPr>
          <a:xfrm>
            <a:off x="12161520" y="2743200"/>
            <a:ext cx="5486400" cy="365760"/>
          </a:xfrm>
          <a:prstGeom prst="rect">
            <a:avLst/>
          </a:prstGeom>
          <a:noFill/>
        </p:spPr>
        <p:txBody>
          <a:bodyPr wrap="square" lIns="0" rIns="0" tIns="0" bIns="0" anchor="t">
            <a:spAutoFit/>
          </a:bodyPr>
          <a:lstStyle/>
          <a:p>
            <a:pPr algn="l"/>
            <a:r>
              <a:rPr sz="1500" b="1" i="0">
                <a:solidFill>
                  <a:srgbClr val="13233A"/>
                </a:solidFill>
                <a:latin typeface="Montserrat"/>
                <a:ea typeface="Montserrat"/>
                <a:cs typeface="Montserrat"/>
              </a:rPr>
              <a:t>DEPLOYMENT</a:t>
            </a:r>
          </a:p>
        </p:txBody>
      </p:sp>
      <p:sp>
        <p:nvSpPr>
          <p:cNvPr id="156" name="Rounded Rectangle 155"/>
          <p:cNvSpPr/>
          <p:nvPr/>
        </p:nvSpPr>
        <p:spPr>
          <a:xfrm>
            <a:off x="12161520" y="3200400"/>
            <a:ext cx="5486400" cy="2743200"/>
          </a:xfrm>
          <a:prstGeom prst="roundRect">
            <a:avLst>
              <a:gd name="adj" fmla="val 6000"/>
            </a:avLst>
          </a:prstGeom>
          <a:solidFill>
            <a:srgbClr val="E2F3EA"/>
          </a:solidFill>
          <a:ln w="15875">
            <a:solidFill>
              <a:srgbClr val="2E8B62"/>
            </a:solidFill>
          </a:ln>
          <a:effectLst/>
        </p:spPr>
        <p:txBody>
          <a:bodyPr rtlCol="0" anchor="ctr" wrap="square" lIns="146304" rIns="146304" tIns="146304" bIns="146304"/>
          <a:lstStyle/>
          <a:p>
            <a:pPr algn="l"/>
            <a:r>
              <a:rPr sz="1400" b="1" i="0">
                <a:solidFill>
                  <a:srgbClr val="2E8B62"/>
                </a:solidFill>
                <a:latin typeface="Montserrat"/>
                <a:ea typeface="Montserrat"/>
                <a:cs typeface="Montserrat"/>
              </a:rPr>
              <a:t>TODAY · implemented</a:t>
            </a:r>
          </a:p>
          <a:p>
            <a:pPr algn="l"/>
            <a:r>
              <a:rPr sz="1550" b="0" i="0">
                <a:solidFill>
                  <a:srgbClr val="1D1D1F"/>
                </a:solidFill>
                <a:latin typeface="IBM Plex Sans"/>
                <a:ea typeface="IBM Plex Sans"/>
                <a:cs typeface="IBM Plex Sans"/>
              </a:rPr>
              <a:t>One host, rootless Podman, API on loopback only, JSON files, local demo tokens. Real model optional, loopback only, key never logged.</a:t>
            </a:r>
          </a:p>
        </p:txBody>
      </p:sp>
      <p:sp>
        <p:nvSpPr>
          <p:cNvPr id="157" name="Rounded Rectangle 156"/>
          <p:cNvSpPr/>
          <p:nvPr/>
        </p:nvSpPr>
        <p:spPr>
          <a:xfrm>
            <a:off x="12161520" y="6035040"/>
            <a:ext cx="5486400" cy="3611880"/>
          </a:xfrm>
          <a:prstGeom prst="roundRect">
            <a:avLst>
              <a:gd name="adj" fmla="val 6000"/>
            </a:avLst>
          </a:prstGeom>
          <a:solidFill>
            <a:srgbClr val="E3EDF9"/>
          </a:solidFill>
          <a:ln w="15875">
            <a:solidFill>
              <a:srgbClr val="2F6DB5"/>
            </a:solidFill>
          </a:ln>
          <a:effectLst/>
        </p:spPr>
        <p:txBody>
          <a:bodyPr rtlCol="0" anchor="ctr" wrap="square" lIns="146304" rIns="146304" tIns="146304" bIns="146304"/>
          <a:lstStyle/>
          <a:p>
            <a:pPr algn="l"/>
            <a:r>
              <a:rPr sz="1400" b="1" i="0">
                <a:solidFill>
                  <a:srgbClr val="2F6DB5"/>
                </a:solidFill>
                <a:latin typeface="Montserrat"/>
                <a:ea typeface="Montserrat"/>
                <a:cs typeface="Montserrat"/>
              </a:rPr>
              <a:t>NEXT · proposed, not built</a:t>
            </a:r>
          </a:p>
          <a:p>
            <a:pPr algn="l"/>
            <a:r>
              <a:rPr sz="1550" b="0" i="0">
                <a:solidFill>
                  <a:srgbClr val="1D1D1F"/>
                </a:solidFill>
                <a:latin typeface="IBM Plex Sans"/>
                <a:ea typeface="IBM Plex Sans"/>
                <a:cs typeface="IBM Plex Sans"/>
              </a:rPr>
              <a:t>Signer outside the control-plane user · run-scoped identities · vault on separate storage · refuse cache_prompt true unless explicitly shared · microVM per tenant · GPU model server behind its own boundary</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57" name="Google Shape;157;p20" title="download (2).jpg"/>
          <p:cNvPicPr preferRelativeResize="0"/>
          <p:nvPr/>
        </p:nvPicPr>
        <p:blipFill rotWithShape="1">
          <a:blip r:embed="rId3">
            <a:alphaModFix/>
          </a:blip>
          <a:srcRect b="0" l="38928" r="16455" t="0"/>
          <a:stretch/>
        </p:blipFill>
        <p:spPr>
          <a:xfrm rot="-5400000">
            <a:off x="7123100" y="-7111200"/>
            <a:ext cx="4088375" cy="18326624"/>
          </a:xfrm>
          <a:prstGeom prst="rect">
            <a:avLst/>
          </a:prstGeom>
          <a:noFill/>
          <a:ln>
            <a:noFill/>
          </a:ln>
        </p:spPr>
      </p:pic>
      <p:pic>
        <p:nvPicPr>
          <p:cNvPr id="158" name="Google Shape;158;p20"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159" name="Google Shape;159;p20"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
        <p:nvSpPr>
          <p:cNvPr id="160" name="TextBox 159"/>
          <p:cNvSpPr txBox="1"/>
          <p:nvPr/>
        </p:nvSpPr>
        <p:spPr>
          <a:xfrm>
            <a:off x="640080" y="4343400"/>
            <a:ext cx="11155680" cy="411480"/>
          </a:xfrm>
          <a:prstGeom prst="rect">
            <a:avLst/>
          </a:prstGeom>
          <a:noFill/>
        </p:spPr>
        <p:txBody>
          <a:bodyPr wrap="square" lIns="0" rIns="0" tIns="0" bIns="0" anchor="t">
            <a:spAutoFit/>
          </a:bodyPr>
          <a:lstStyle/>
          <a:p>
            <a:pPr algn="l"/>
            <a:r>
              <a:rPr sz="2000" b="1" i="0">
                <a:solidFill>
                  <a:srgbClr val="E8772E"/>
                </a:solidFill>
                <a:latin typeface="Montserrat"/>
                <a:ea typeface="Montserrat"/>
                <a:cs typeface="Montserrat"/>
              </a:rPr>
              <a:t>AEGISLAB · TECH MAVERICKS</a:t>
            </a:r>
          </a:p>
        </p:txBody>
      </p:sp>
      <p:sp>
        <p:nvSpPr>
          <p:cNvPr id="161" name="TextBox 160"/>
          <p:cNvSpPr txBox="1"/>
          <p:nvPr/>
        </p:nvSpPr>
        <p:spPr>
          <a:xfrm>
            <a:off x="640080" y="4754880"/>
            <a:ext cx="11338560" cy="822960"/>
          </a:xfrm>
          <a:prstGeom prst="rect">
            <a:avLst/>
          </a:prstGeom>
          <a:noFill/>
        </p:spPr>
        <p:txBody>
          <a:bodyPr wrap="square" lIns="0" rIns="0" tIns="0" bIns="0" anchor="t">
            <a:spAutoFit/>
          </a:bodyPr>
          <a:lstStyle/>
          <a:p>
            <a:pPr algn="l"/>
            <a:r>
              <a:rPr sz="3400" b="1" i="0">
                <a:solidFill>
                  <a:srgbClr val="13233A"/>
                </a:solidFill>
                <a:latin typeface="Montserrat"/>
                <a:ea typeface="Montserrat"/>
                <a:cs typeface="Montserrat"/>
              </a:rPr>
              <a:t>Three contributions, with their limits stated</a:t>
            </a:r>
          </a:p>
        </p:txBody>
      </p:sp>
      <p:sp>
        <p:nvSpPr>
          <p:cNvPr id="162" name="Oval 161"/>
          <p:cNvSpPr/>
          <p:nvPr/>
        </p:nvSpPr>
        <p:spPr>
          <a:xfrm>
            <a:off x="640080" y="5833872"/>
            <a:ext cx="566928" cy="566928"/>
          </a:xfrm>
          <a:prstGeom prst="ellipse">
            <a:avLst/>
          </a:prstGeom>
          <a:solidFill>
            <a:srgbClr val="E8772E"/>
          </a:solidFill>
          <a:ln>
            <a:noFill/>
          </a:ln>
          <a:effectLst/>
        </p:spPr>
        <p:txBody>
          <a:bodyPr rtlCol="0" anchor="ctr" wrap="square" lIns="0" rIns="0" tIns="0" bIns="0"/>
          <a:lstStyle/>
          <a:p>
            <a:pPr algn="ctr"/>
            <a:r>
              <a:rPr sz="2000" b="1" i="0">
                <a:solidFill>
                  <a:srgbClr val="FFFFFF"/>
                </a:solidFill>
                <a:latin typeface="Montserrat"/>
                <a:ea typeface="Montserrat"/>
                <a:cs typeface="Montserrat"/>
              </a:rPr>
              <a:t>1</a:t>
            </a:r>
          </a:p>
        </p:txBody>
      </p:sp>
      <p:sp>
        <p:nvSpPr>
          <p:cNvPr id="163" name="TextBox 162"/>
          <p:cNvSpPr txBox="1"/>
          <p:nvPr/>
        </p:nvSpPr>
        <p:spPr>
          <a:xfrm>
            <a:off x="1417320" y="5742432"/>
            <a:ext cx="10424160" cy="1097280"/>
          </a:xfrm>
          <a:prstGeom prst="rect">
            <a:avLst/>
          </a:prstGeom>
          <a:noFill/>
        </p:spPr>
        <p:txBody>
          <a:bodyPr wrap="square" lIns="0" rIns="0" tIns="0" bIns="0" anchor="t">
            <a:spAutoFit/>
          </a:bodyPr>
          <a:lstStyle/>
          <a:p>
            <a:pPr algn="l"/>
            <a:r>
              <a:rPr sz="2100" b="1" i="0">
                <a:solidFill>
                  <a:srgbClr val="1D1D1F"/>
                </a:solidFill>
                <a:latin typeface="Montserrat"/>
                <a:ea typeface="Montserrat"/>
                <a:cs typeface="Montserrat"/>
              </a:rPr>
              <a:t>Enforced information-flow boundaries</a:t>
            </a:r>
          </a:p>
          <a:p>
            <a:pPr algn="l"/>
            <a:r>
              <a:rPr sz="1750" b="0" i="0">
                <a:solidFill>
                  <a:srgbClr val="5B6B7F"/>
                </a:solidFill>
                <a:latin typeface="IBM Plex Sans"/>
                <a:ea typeface="IBM Plex Sans"/>
                <a:cs typeface="IBM Plex Sans"/>
              </a:rPr>
              <a:t>No-network sandboxes, one brokered path. 419 / 419 expected denials denied in a 560-case role matrix; the hostile-mailbox attack is blocked in a real sandbox.</a:t>
            </a:r>
          </a:p>
        </p:txBody>
      </p:sp>
      <p:sp>
        <p:nvSpPr>
          <p:cNvPr id="164" name="Oval 163"/>
          <p:cNvSpPr/>
          <p:nvPr/>
        </p:nvSpPr>
        <p:spPr>
          <a:xfrm>
            <a:off x="640080" y="6931152"/>
            <a:ext cx="566928" cy="566928"/>
          </a:xfrm>
          <a:prstGeom prst="ellipse">
            <a:avLst/>
          </a:prstGeom>
          <a:solidFill>
            <a:srgbClr val="2F6DB5"/>
          </a:solidFill>
          <a:ln>
            <a:noFill/>
          </a:ln>
          <a:effectLst/>
        </p:spPr>
        <p:txBody>
          <a:bodyPr rtlCol="0" anchor="ctr" wrap="square" lIns="0" rIns="0" tIns="0" bIns="0"/>
          <a:lstStyle/>
          <a:p>
            <a:pPr algn="ctr"/>
            <a:r>
              <a:rPr sz="2000" b="1" i="0">
                <a:solidFill>
                  <a:srgbClr val="FFFFFF"/>
                </a:solidFill>
                <a:latin typeface="Montserrat"/>
                <a:ea typeface="Montserrat"/>
                <a:cs typeface="Montserrat"/>
              </a:rPr>
              <a:t>2</a:t>
            </a:r>
          </a:p>
        </p:txBody>
      </p:sp>
      <p:sp>
        <p:nvSpPr>
          <p:cNvPr id="165" name="TextBox 164"/>
          <p:cNvSpPr txBox="1"/>
          <p:nvPr/>
        </p:nvSpPr>
        <p:spPr>
          <a:xfrm>
            <a:off x="1417320" y="6839712"/>
            <a:ext cx="10424160" cy="1097280"/>
          </a:xfrm>
          <a:prstGeom prst="rect">
            <a:avLst/>
          </a:prstGeom>
          <a:noFill/>
        </p:spPr>
        <p:txBody>
          <a:bodyPr wrap="square" lIns="0" rIns="0" tIns="0" bIns="0" anchor="t">
            <a:spAutoFit/>
          </a:bodyPr>
          <a:lstStyle/>
          <a:p>
            <a:pPr algn="l"/>
            <a:r>
              <a:rPr sz="2100" b="1" i="0">
                <a:solidFill>
                  <a:srgbClr val="1D1D1F"/>
                </a:solidFill>
                <a:latin typeface="Montserrat"/>
                <a:ea typeface="Montserrat"/>
                <a:cs typeface="Montserrat"/>
              </a:rPr>
              <a:t>Reproducible adversarial validation, real model included</a:t>
            </a:r>
          </a:p>
          <a:p>
            <a:pPr algn="l"/>
            <a:r>
              <a:rPr sz="1750" b="0" i="0">
                <a:solidFill>
                  <a:srgbClr val="5B6B7F"/>
                </a:solidFill>
                <a:latin typeface="IBM Plex Sans"/>
                <a:ea typeface="IBM Plex Sans"/>
                <a:cs typeface="IBM Plex Sans"/>
              </a:rPr>
              <a:t>0 / 104 sessions leaked, and the controls that must leak did (16 / 16, 13 / 16). One command reproduces it.</a:t>
            </a:r>
          </a:p>
        </p:txBody>
      </p:sp>
      <p:sp>
        <p:nvSpPr>
          <p:cNvPr id="166" name="Oval 165"/>
          <p:cNvSpPr/>
          <p:nvPr/>
        </p:nvSpPr>
        <p:spPr>
          <a:xfrm>
            <a:off x="640080" y="8028431"/>
            <a:ext cx="566928" cy="566928"/>
          </a:xfrm>
          <a:prstGeom prst="ellipse">
            <a:avLst/>
          </a:prstGeom>
          <a:solidFill>
            <a:srgbClr val="2E8B62"/>
          </a:solidFill>
          <a:ln>
            <a:noFill/>
          </a:ln>
          <a:effectLst/>
        </p:spPr>
        <p:txBody>
          <a:bodyPr rtlCol="0" anchor="ctr" wrap="square" lIns="0" rIns="0" tIns="0" bIns="0"/>
          <a:lstStyle/>
          <a:p>
            <a:pPr algn="ctr"/>
            <a:r>
              <a:rPr sz="2000" b="1" i="0">
                <a:solidFill>
                  <a:srgbClr val="FFFFFF"/>
                </a:solidFill>
                <a:latin typeface="Montserrat"/>
                <a:ea typeface="Montserrat"/>
                <a:cs typeface="Montserrat"/>
              </a:rPr>
              <a:t>3</a:t>
            </a:r>
          </a:p>
        </p:txBody>
      </p:sp>
      <p:sp>
        <p:nvSpPr>
          <p:cNvPr id="167" name="TextBox 166"/>
          <p:cNvSpPr txBox="1"/>
          <p:nvPr/>
        </p:nvSpPr>
        <p:spPr>
          <a:xfrm>
            <a:off x="1417320" y="7936992"/>
            <a:ext cx="10424160" cy="1097280"/>
          </a:xfrm>
          <a:prstGeom prst="rect">
            <a:avLst/>
          </a:prstGeom>
          <a:noFill/>
        </p:spPr>
        <p:txBody>
          <a:bodyPr wrap="square" lIns="0" rIns="0" tIns="0" bIns="0" anchor="t">
            <a:spAutoFit/>
          </a:bodyPr>
          <a:lstStyle/>
          <a:p>
            <a:pPr algn="l"/>
            <a:r>
              <a:rPr sz="2100" b="1" i="0">
                <a:solidFill>
                  <a:srgbClr val="1D1D1F"/>
                </a:solidFill>
                <a:latin typeface="Montserrat"/>
                <a:ea typeface="Montserrat"/>
                <a:cs typeface="Montserrat"/>
              </a:rPr>
              <a:t>Verifiable evidence with explicit residual risk</a:t>
            </a:r>
          </a:p>
          <a:p>
            <a:pPr algn="l"/>
            <a:r>
              <a:rPr sz="1750" b="0" i="0">
                <a:solidFill>
                  <a:srgbClr val="5B6B7F"/>
                </a:solidFill>
                <a:latin typeface="IBM Plex Sans"/>
                <a:ea typeface="IBM Plex Sans"/>
                <a:cs typeface="IBM Plex Sans"/>
              </a:rPr>
              <a:t>A signed terminal checkpoint; a tampered copy is rejected. Trusted broker, shared host, detector limits and untested hardware are stated.</a:t>
            </a:r>
          </a:p>
        </p:txBody>
      </p:sp>
      <p:sp>
        <p:nvSpPr>
          <p:cNvPr id="168" name="TextBox 167"/>
          <p:cNvSpPr txBox="1"/>
          <p:nvPr/>
        </p:nvSpPr>
        <p:spPr>
          <a:xfrm>
            <a:off x="640080" y="9098280"/>
            <a:ext cx="11338560" cy="548640"/>
          </a:xfrm>
          <a:prstGeom prst="rect">
            <a:avLst/>
          </a:prstGeom>
          <a:noFill/>
        </p:spPr>
        <p:txBody>
          <a:bodyPr wrap="square" lIns="0" rIns="0" tIns="0" bIns="0" anchor="ctr">
            <a:spAutoFit/>
          </a:bodyPr>
          <a:lstStyle/>
          <a:p>
            <a:pPr algn="l"/>
            <a:r>
              <a:rPr sz="2000" b="1" i="0">
                <a:solidFill>
                  <a:srgbClr val="E8772E"/>
                </a:solidFill>
                <a:latin typeface="IBM Plex Sans"/>
                <a:ea typeface="IBM Plex Sans"/>
                <a:cs typeface="IBM Plex Sans"/>
              </a:rPr>
              <a:t>Why it matters: </a:t>
            </a:r>
            <a:r>
              <a:rPr sz="2000" b="1" i="0">
                <a:solidFill>
                  <a:srgbClr val="13233A"/>
                </a:solidFill>
                <a:latin typeface="IBM Plex Sans"/>
                <a:ea typeface="IBM Plex Sans"/>
                <a:cs typeface="IBM Plex Sans"/>
              </a:rPr>
              <a:t>a safety finding is only as credible as the test that produced it.</a:t>
            </a:r>
          </a:p>
        </p:txBody>
      </p:sp>
      <p:sp>
        <p:nvSpPr>
          <p:cNvPr id="169" name="TextBox 168"/>
          <p:cNvSpPr txBox="1"/>
          <p:nvPr/>
        </p:nvSpPr>
        <p:spPr>
          <a:xfrm>
            <a:off x="640080" y="9692640"/>
            <a:ext cx="11338560" cy="365760"/>
          </a:xfrm>
          <a:prstGeom prst="rect">
            <a:avLst/>
          </a:prstGeom>
          <a:noFill/>
        </p:spPr>
        <p:txBody>
          <a:bodyPr wrap="square" lIns="0" rIns="0" tIns="0" bIns="0" anchor="t">
            <a:spAutoFit/>
          </a:bodyPr>
          <a:lstStyle/>
          <a:p>
            <a:pPr algn="l"/>
            <a:r>
              <a:rPr sz="1500" b="0" i="0">
                <a:solidFill>
                  <a:srgbClr val="5B6B7F"/>
                </a:solidFill>
                <a:latin typeface="IBM Plex Sans"/>
                <a:ea typeface="IBM Plex Sans"/>
                <a:cs typeface="IBM Plex Sans"/>
              </a:rPr>
              <a:t>Abdul Munaf Z · Likhith Sai N · Sreeram Rajesh</a:t>
            </a:r>
          </a:p>
        </p:txBody>
      </p:sp>
      <p:sp>
        <p:nvSpPr>
          <p:cNvPr id="170" name="TextBox 169"/>
          <p:cNvSpPr txBox="1"/>
          <p:nvPr/>
        </p:nvSpPr>
        <p:spPr>
          <a:xfrm>
            <a:off x="12070080" y="4754880"/>
            <a:ext cx="5669280" cy="4389120"/>
          </a:xfrm>
          <a:prstGeom prst="rect">
            <a:avLst/>
          </a:prstGeom>
          <a:noFill/>
        </p:spPr>
        <p:txBody>
          <a:bodyPr wrap="square" lIns="0" rIns="0" tIns="0" bIns="0" anchor="ctr">
            <a:spAutoFit/>
          </a:bodyPr>
          <a:lstStyle/>
          <a:p>
            <a:pPr algn="ctr"/>
            <a:r>
              <a:rPr sz="15000" b="1" i="0">
                <a:solidFill>
                  <a:srgbClr val="1D1D1F"/>
                </a:solidFill>
                <a:latin typeface="Caveat"/>
                <a:ea typeface="Caveat"/>
                <a:cs typeface="Caveat"/>
              </a:rPr>
              <a:t>Thank</a:t>
            </a:r>
          </a:p>
          <a:p>
            <a:pPr algn="ctr"/>
            <a:r>
              <a:rPr sz="15000" b="1" i="0">
                <a:solidFill>
                  <a:srgbClr val="1D1D1F"/>
                </a:solidFill>
                <a:latin typeface="Caveat"/>
                <a:ea typeface="Caveat"/>
                <a:cs typeface="Caveat"/>
              </a:rPr>
              <a:t>you!</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Tech Mavericks · AegisLab · Hack in Hills ’26 Track 04</dc:title>
  <cp:lastModifiedBy>python-pptx</cp:lastModifiedBy>
  <cp:revision>1</cp:revision>
  <dcterms:modified xsi:type="dcterms:W3CDTF">2026-10-23T10:49:06Z</dcterms:modified>
  <dc:creator>Tech Mavericks</dc:creator>
</cp:coreProperties>
</file>